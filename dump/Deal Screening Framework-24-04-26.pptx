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5" r:id="rId2"/>
    <p:sldId id="282" r:id="rId3"/>
    <p:sldId id="283" r:id="rId4"/>
    <p:sldId id="284" r:id="rId5"/>
    <p:sldId id="285" r:id="rId6"/>
    <p:sldId id="288" r:id="rId7"/>
    <p:sldId id="287" r:id="rId8"/>
    <p:sldId id="290" r:id="rId9"/>
    <p:sldId id="289" r:id="rId10"/>
    <p:sldId id="291" r:id="rId11"/>
    <p:sldId id="292" r:id="rId12"/>
    <p:sldId id="293" r:id="rId13"/>
    <p:sldId id="29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2BBD1C-92BB-0F72-D754-42AFC191F88D}" name="Habeeb Oladapo Alebiosu" initials="HA" userId="dd7a5313b51a96a3" providerId="Windows Live"/>
  <p188:author id="{E5C391AA-47B2-E4FB-78B5-D0BBB17CBBCD}" name="Services" initials="S" userId="Services" providerId="None"/>
  <p188:author id="{291BD8E4-9347-5551-5F75-04BE518A0BC8}" name="Abdullateef Ogunbiyi" initials="AO" userId="S::abdullateef.ogunbiyi@del.energy::eef906d5-92b6-4c3d-9afa-bf8016000b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9A2E"/>
    <a:srgbClr val="FFFFCC"/>
    <a:srgbClr val="1F6AD6"/>
    <a:srgbClr val="00B15D"/>
    <a:srgbClr val="0A2F6F"/>
    <a:srgbClr val="0F2F5C"/>
    <a:srgbClr val="F57F17"/>
    <a:srgbClr val="8EA773"/>
    <a:srgbClr val="6FABA1"/>
    <a:srgbClr val="1FAE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01624-1E3C-4345-A3F2-170087CE27E7}" v="49" dt="2026-06-04T11:24:10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6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64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139D6-ACFB-7D90-7557-5C872FAE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089DA-269E-688F-D205-E911816A0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C6159-CF3B-7273-52EB-573A1180D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1AEFF-21A4-5DD8-0E8A-E25FD43F01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8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AAE8D-8F08-C333-6C26-985188C62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7530E-1215-EF17-C08D-10F4AFEA7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3AC6B-B0B8-56B9-E76D-3DCAA800C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06EA2-55A3-832C-C0CD-B7D2D0A39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41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CCBD-3A42-2D38-2D49-61778326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39D7C-4E17-BB1E-8784-F7CC8D093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21789-6E35-2ACE-0DDE-7128B21F2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82B59-0A06-E691-58D9-82FBCA922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19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EB2D4-E9C6-17E9-D563-EAE35E13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A128E-7EC4-B489-34D3-66CCE25EE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E7C8A-2DC6-1329-DB8E-50BBF1EB2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80A5E-AB34-5F8A-6B0E-08802283A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43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C4545-F974-0AB9-7E2B-0DC3F1A9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85C51-E300-9A87-CFBF-D1AC19916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29E4D-E295-129A-5DBE-AA8CBE55C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D2323-FEC0-C272-87D6-979FE629C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62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9AD23-5232-6D1F-8DBE-1B330564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46238-88D1-E2D4-1561-312302C84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E00B8-60F7-2735-6AB8-B6DA40E7C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6D12C-3C26-9123-530C-6B516390C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3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2596-E316-A6E7-9FC0-DAD59DAD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A4B0B-6C70-94D5-A6CF-48473168B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96CED-35A6-956D-41B3-302CA30FC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AE1AF-9D79-3EA7-D38F-D3244A15D6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8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9EDD-9B0D-3206-8554-07438CF3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FBD34-58DA-1565-5DB1-6B6AAAC45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5FD92-A24C-76BD-6887-5B0BDCE24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A133-E62E-8FF4-D5CC-2ED156D80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89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3F615-026F-13D1-00FE-7193939A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FBC6F-927E-1FEA-C05F-3D1792582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20BB0-3495-7743-5D9E-D22632D58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6F78A-38E1-CCFC-37AC-E8BB1F9A5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30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B8E08-6AB4-C078-F765-B5D66E13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44F44-C43E-0359-F833-10B0079BD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617C1-1E74-EBBC-29FB-F31886322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78244-CAFC-3FA2-48B7-E6941047B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64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BBCF-4D30-6AFA-4486-EFEC9580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A417D-C839-2090-9CE2-ABFB76C75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C2FA1-569B-CF67-FF5E-D2398A4FD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00F9A-2C40-889E-498F-05A8D1D10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67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BC4F-EF5B-1F94-BC0B-0F6B9079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E613C-D465-C53E-69EF-3C168DB18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ADA7B-CEC7-F440-B58F-E94480800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E657D-843E-841A-11E2-4FC2F6B3B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24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42A6A-C37A-12B7-0EB6-DC6A87D7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47D35535-C19E-8BF5-4081-881862B732D0}"/>
              </a:ext>
            </a:extLst>
          </p:cNvPr>
          <p:cNvSpPr/>
          <p:nvPr/>
        </p:nvSpPr>
        <p:spPr>
          <a:xfrm>
            <a:off x="274320" y="187485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Deal Screening Framework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196F8E-BF03-4E9E-E767-A7FE851CDDDD}"/>
              </a:ext>
            </a:extLst>
          </p:cNvPr>
          <p:cNvSpPr/>
          <p:nvPr/>
        </p:nvSpPr>
        <p:spPr>
          <a:xfrm>
            <a:off x="274320" y="2560650"/>
            <a:ext cx="5486400" cy="54864"/>
          </a:xfrm>
          <a:prstGeom prst="rect">
            <a:avLst/>
          </a:prstGeom>
          <a:solidFill>
            <a:srgbClr val="1F6AD6"/>
          </a:solidFill>
          <a:ln w="12700">
            <a:solidFill>
              <a:srgbClr val="1F6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E01098-12B4-16D5-E237-F4E881F4C4A4}"/>
              </a:ext>
            </a:extLst>
          </p:cNvPr>
          <p:cNvSpPr/>
          <p:nvPr/>
        </p:nvSpPr>
        <p:spPr>
          <a:xfrm>
            <a:off x="274320" y="2692920"/>
            <a:ext cx="7315200" cy="196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ea typeface="Calibri" pitchFamily="34" charset="-122"/>
                <a:cs typeface="Calibri" pitchFamily="34" charset="-120"/>
              </a:rPr>
              <a:t>Discussion Material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C5941CB-94A0-1725-18F0-AC1EF6320302}"/>
              </a:ext>
            </a:extLst>
          </p:cNvPr>
          <p:cNvSpPr/>
          <p:nvPr/>
        </p:nvSpPr>
        <p:spPr>
          <a:xfrm>
            <a:off x="274320" y="4549544"/>
            <a:ext cx="870017" cy="298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APRIL 2026</a:t>
            </a:r>
            <a:endParaRPr lang="en-US" sz="750" b="1" dirty="0">
              <a:solidFill>
                <a:srgbClr val="002060"/>
              </a:solidFill>
            </a:endParaRPr>
          </a:p>
        </p:txBody>
      </p:sp>
      <p:pic>
        <p:nvPicPr>
          <p:cNvPr id="30" name="Picture 29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AFC49DDC-67AF-B033-6E70-CA1BC3563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590" y="202575"/>
            <a:ext cx="1242945" cy="510815"/>
          </a:xfrm>
          <a:prstGeom prst="rect">
            <a:avLst/>
          </a:prstGeom>
        </p:spPr>
      </p:pic>
      <p:sp>
        <p:nvSpPr>
          <p:cNvPr id="2" name="Text 8">
            <a:extLst>
              <a:ext uri="{FF2B5EF4-FFF2-40B4-BE49-F238E27FC236}">
                <a16:creationId xmlns:a16="http://schemas.microsoft.com/office/drawing/2014/main" id="{9DE62468-5FA5-2C3D-6B1E-D9B4066EE69D}"/>
              </a:ext>
            </a:extLst>
          </p:cNvPr>
          <p:cNvSpPr/>
          <p:nvPr/>
        </p:nvSpPr>
        <p:spPr>
          <a:xfrm>
            <a:off x="274320" y="2882254"/>
            <a:ext cx="7315200" cy="231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ea typeface="Calibri" pitchFamily="34" charset="-122"/>
                <a:cs typeface="Calibri" pitchFamily="34" charset="-120"/>
              </a:rPr>
              <a:t>An investment-grade GO / NO-GO evaluation system for power and gas projects</a:t>
            </a:r>
          </a:p>
        </p:txBody>
      </p:sp>
    </p:spTree>
    <p:extLst>
      <p:ext uri="{BB962C8B-B14F-4D97-AF65-F5344CB8AC3E}">
        <p14:creationId xmlns:p14="http://schemas.microsoft.com/office/powerpoint/2010/main" val="159110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4E3D22-1800-43DE-932F-0E1EBEE567D1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DEAL SCREENING — DECISION TREE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B146C8-57AF-41B9-AB68-E85EEB65D135}"/>
              </a:ext>
            </a:extLst>
          </p:cNvPr>
          <p:cNvSpPr txBox="1"/>
          <p:nvPr/>
        </p:nvSpPr>
        <p:spPr>
          <a:xfrm>
            <a:off x="173763" y="515779"/>
            <a:ext cx="8763000" cy="2154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 i="1" dirty="0">
                <a:solidFill>
                  <a:srgbClr val="5A6B7B"/>
                </a:solidFill>
                <a:ea typeface="Calibri"/>
                <a:cs typeface="Calibri"/>
              </a:rPr>
              <a:t>Two-stage gate: knockout check first, weighted pillar scoring second. Total weighted score determines GO / CONDITIONAL / NO-GO.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9F5471-699E-4B57-B35C-122825FC98C5}"/>
              </a:ext>
            </a:extLst>
          </p:cNvPr>
          <p:cNvSpPr/>
          <p:nvPr/>
        </p:nvSpPr>
        <p:spPr>
          <a:xfrm>
            <a:off x="177800" y="773936"/>
            <a:ext cx="8788400" cy="279400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ea typeface="Calibri"/>
                <a:cs typeface="Calibri"/>
              </a:rPr>
              <a:t>STAGE 1   ·   KNOCKOUT CHECK 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1AB8AF-FCA0-43BF-951D-26FE83B96EBE}"/>
              </a:ext>
            </a:extLst>
          </p:cNvPr>
          <p:cNvSpPr/>
          <p:nvPr/>
        </p:nvSpPr>
        <p:spPr>
          <a:xfrm>
            <a:off x="177800" y="1154936"/>
            <a:ext cx="5842000" cy="1143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5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5823C37-E78C-4D19-814F-29C21BD71814}"/>
              </a:ext>
            </a:extLst>
          </p:cNvPr>
          <p:cNvSpPr/>
          <p:nvPr/>
        </p:nvSpPr>
        <p:spPr>
          <a:xfrm>
            <a:off x="177800" y="1154936"/>
            <a:ext cx="5842000" cy="2794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ea typeface="Calibri"/>
                <a:cs typeface="Calibri"/>
              </a:rPr>
              <a:t>▶  IF ALL 5 GATES PASS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A82149-07F7-4ADD-8930-2F1EB9074BC8}"/>
              </a:ext>
            </a:extLst>
          </p:cNvPr>
          <p:cNvSpPr txBox="1"/>
          <p:nvPr/>
        </p:nvSpPr>
        <p:spPr>
          <a:xfrm>
            <a:off x="304800" y="1510536"/>
            <a:ext cx="55880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ea typeface="Calibri"/>
                <a:cs typeface="Calibri"/>
              </a:rPr>
              <a:t>Proceed to Stage 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DF6A93-DB23-458E-91C9-FC7D71E7F432}"/>
              </a:ext>
            </a:extLst>
          </p:cNvPr>
          <p:cNvSpPr txBox="1"/>
          <p:nvPr/>
        </p:nvSpPr>
        <p:spPr>
          <a:xfrm>
            <a:off x="304800" y="1739136"/>
            <a:ext cx="5588000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dirty="0">
                <a:ea typeface="Calibri"/>
                <a:cs typeface="Calibri"/>
              </a:rPr>
              <a:t>Deal advances to weighted 5-pillar scoring with full evidence pack and screening memo. Estimated 5–7 business days to scored output.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A547E4-4EFC-4A45-81AE-48803747F8C0}"/>
              </a:ext>
            </a:extLst>
          </p:cNvPr>
          <p:cNvSpPr/>
          <p:nvPr/>
        </p:nvSpPr>
        <p:spPr>
          <a:xfrm>
            <a:off x="6172200" y="1154936"/>
            <a:ext cx="2794000" cy="1143000"/>
          </a:xfrm>
          <a:prstGeom prst="rect">
            <a:avLst/>
          </a:prstGeom>
          <a:solidFill>
            <a:srgbClr val="FBEFEF"/>
          </a:solidFill>
          <a:ln w="6350" cap="flat" cmpd="sng" algn="ctr">
            <a:solidFill>
              <a:srgbClr val="D5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E02ED1-1836-4491-B395-C6275406A219}"/>
              </a:ext>
            </a:extLst>
          </p:cNvPr>
          <p:cNvSpPr/>
          <p:nvPr/>
        </p:nvSpPr>
        <p:spPr>
          <a:xfrm>
            <a:off x="6172200" y="1154936"/>
            <a:ext cx="2794000" cy="279400"/>
          </a:xfrm>
          <a:prstGeom prst="rect">
            <a:avLst/>
          </a:prstGeom>
          <a:solidFill>
            <a:srgbClr val="7A1F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✕  IF ANY GATE FAILS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3403AE-7324-481F-91CB-3561693F9763}"/>
              </a:ext>
            </a:extLst>
          </p:cNvPr>
          <p:cNvSpPr txBox="1"/>
          <p:nvPr/>
        </p:nvSpPr>
        <p:spPr>
          <a:xfrm>
            <a:off x="6299200" y="1510536"/>
            <a:ext cx="25400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Automatic NO-GO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B1A336-CF11-4E9C-AD98-1BEADFB17F7D}"/>
              </a:ext>
            </a:extLst>
          </p:cNvPr>
          <p:cNvSpPr txBox="1"/>
          <p:nvPr/>
        </p:nvSpPr>
        <p:spPr>
          <a:xfrm>
            <a:off x="6299200" y="1739136"/>
            <a:ext cx="2540000" cy="55399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dirty="0">
                <a:ea typeface="Calibri"/>
                <a:cs typeface="Calibri"/>
              </a:rPr>
              <a:t>Deal formally declined and logged. Decline letter issued; rationale archived for audit trail.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DE55C0A-A00A-4DF9-B1FE-6E21F6A56D6D}"/>
              </a:ext>
            </a:extLst>
          </p:cNvPr>
          <p:cNvSpPr/>
          <p:nvPr/>
        </p:nvSpPr>
        <p:spPr>
          <a:xfrm>
            <a:off x="177800" y="2540000"/>
            <a:ext cx="8788400" cy="279400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ea typeface="Calibri"/>
                <a:cs typeface="Calibri"/>
              </a:rPr>
              <a:t>STAGE 2   ·  WEIGHTED SCORING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4196C9-6C97-4098-87FF-3D24EEB6FD54}"/>
              </a:ext>
            </a:extLst>
          </p:cNvPr>
          <p:cNvSpPr txBox="1"/>
          <p:nvPr/>
        </p:nvSpPr>
        <p:spPr>
          <a:xfrm>
            <a:off x="173763" y="2862421"/>
            <a:ext cx="8763000" cy="2154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>
            <a:lvl1pPr>
              <a:defRPr sz="1000" i="1">
                <a:solidFill>
                  <a:srgbClr val="5A6B7B"/>
                </a:solidFill>
                <a:ea typeface="Calibri"/>
                <a:cs typeface="Calibri"/>
              </a:defRPr>
            </a:lvl1pPr>
          </a:lstStyle>
          <a:p>
            <a:r>
              <a:rPr lang="en-US" sz="800" dirty="0"/>
              <a:t>What is the total weighted score?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C79EDF-9402-4207-8127-17FF1EFC861B}"/>
              </a:ext>
            </a:extLst>
          </p:cNvPr>
          <p:cNvSpPr/>
          <p:nvPr/>
        </p:nvSpPr>
        <p:spPr>
          <a:xfrm>
            <a:off x="177800" y="3071883"/>
            <a:ext cx="28702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A1F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7EF2DE3-652F-41DD-B854-B088B8364AD4}"/>
              </a:ext>
            </a:extLst>
          </p:cNvPr>
          <p:cNvSpPr/>
          <p:nvPr/>
        </p:nvSpPr>
        <p:spPr>
          <a:xfrm>
            <a:off x="177800" y="3071883"/>
            <a:ext cx="2870200" cy="76200"/>
          </a:xfrm>
          <a:prstGeom prst="rect">
            <a:avLst/>
          </a:prstGeom>
          <a:solidFill>
            <a:srgbClr val="7A1F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AAB202-CB53-4F93-A463-DAF51D3BA51E}"/>
              </a:ext>
            </a:extLst>
          </p:cNvPr>
          <p:cNvSpPr txBox="1"/>
          <p:nvPr/>
        </p:nvSpPr>
        <p:spPr>
          <a:xfrm>
            <a:off x="330200" y="32496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A1F1F"/>
                </a:solidFill>
                <a:ea typeface="Calibri"/>
                <a:cs typeface="Calibri"/>
              </a:rPr>
              <a:t>&lt; 65%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9CA3E0-00DC-41DD-9110-312484171709}"/>
              </a:ext>
            </a:extLst>
          </p:cNvPr>
          <p:cNvSpPr txBox="1"/>
          <p:nvPr/>
        </p:nvSpPr>
        <p:spPr>
          <a:xfrm>
            <a:off x="330200" y="34782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ea typeface="Calibri"/>
                <a:cs typeface="Calibri"/>
              </a:rPr>
              <a:t>NO-GO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8C6C9F-7417-497C-848E-D23F03531227}"/>
              </a:ext>
            </a:extLst>
          </p:cNvPr>
          <p:cNvSpPr txBox="1"/>
          <p:nvPr/>
        </p:nvSpPr>
        <p:spPr>
          <a:xfrm>
            <a:off x="330200" y="37830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A1F1F"/>
                </a:solidFill>
                <a:ea typeface="Calibri"/>
                <a:cs typeface="Calibri"/>
              </a:rPr>
              <a:t>Do not proceed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75C932-1081-4565-9CA3-C468D02CE137}"/>
              </a:ext>
            </a:extLst>
          </p:cNvPr>
          <p:cNvSpPr txBox="1"/>
          <p:nvPr/>
        </p:nvSpPr>
        <p:spPr>
          <a:xfrm>
            <a:off x="330200" y="4011683"/>
            <a:ext cx="2565400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Material deficiencies across pillars. Decline and document exit rationale.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5E05D5B-B414-4B99-9741-1B62ECAAD7F5}"/>
              </a:ext>
            </a:extLst>
          </p:cNvPr>
          <p:cNvSpPr/>
          <p:nvPr/>
        </p:nvSpPr>
        <p:spPr>
          <a:xfrm>
            <a:off x="3136900" y="3071883"/>
            <a:ext cx="28702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6E2D8A2-09E5-4C29-9B55-A33853F3B103}"/>
              </a:ext>
            </a:extLst>
          </p:cNvPr>
          <p:cNvSpPr/>
          <p:nvPr/>
        </p:nvSpPr>
        <p:spPr>
          <a:xfrm>
            <a:off x="3136900" y="3071883"/>
            <a:ext cx="2870200" cy="762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7351F2-CFF8-471E-8754-6221C7DDCFC4}"/>
              </a:ext>
            </a:extLst>
          </p:cNvPr>
          <p:cNvSpPr txBox="1"/>
          <p:nvPr/>
        </p:nvSpPr>
        <p:spPr>
          <a:xfrm>
            <a:off x="3289300" y="32496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solidFill>
                  <a:srgbClr val="002060"/>
                </a:solidFill>
                <a:ea typeface="Calibri"/>
                <a:cs typeface="Calibri"/>
              </a:rPr>
              <a:t>65 – 79%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5EA0AA-7E5C-49AA-8100-3ECD8F881FF6}"/>
              </a:ext>
            </a:extLst>
          </p:cNvPr>
          <p:cNvSpPr txBox="1"/>
          <p:nvPr/>
        </p:nvSpPr>
        <p:spPr>
          <a:xfrm>
            <a:off x="3289300" y="34782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ea typeface="Calibri"/>
                <a:cs typeface="Calibri"/>
              </a:rPr>
              <a:t>CONDITIONAL GO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FE2B36-6D52-4D72-A6D3-310FFB6263F1}"/>
              </a:ext>
            </a:extLst>
          </p:cNvPr>
          <p:cNvSpPr txBox="1"/>
          <p:nvPr/>
        </p:nvSpPr>
        <p:spPr>
          <a:xfrm>
            <a:off x="3289300" y="37830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solidFill>
                  <a:srgbClr val="002060"/>
                </a:solidFill>
                <a:ea typeface="Calibri"/>
                <a:cs typeface="Calibri"/>
              </a:rPr>
              <a:t>Proceed with conditions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FFFFA9-B491-4D96-AD81-8C78AC98696A}"/>
              </a:ext>
            </a:extLst>
          </p:cNvPr>
          <p:cNvSpPr txBox="1"/>
          <p:nvPr/>
        </p:nvSpPr>
        <p:spPr>
          <a:xfrm>
            <a:off x="3289300" y="4011683"/>
            <a:ext cx="2565400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dirty="0">
                <a:ea typeface="Calibri"/>
                <a:cs typeface="Calibri"/>
              </a:rPr>
              <a:t>Targeted gaps identified. Restructure terms or close items before Management vote.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912F288-6E83-4C78-B2A9-5B39EBB55773}"/>
              </a:ext>
            </a:extLst>
          </p:cNvPr>
          <p:cNvSpPr/>
          <p:nvPr/>
        </p:nvSpPr>
        <p:spPr>
          <a:xfrm>
            <a:off x="6096000" y="3071883"/>
            <a:ext cx="28702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B15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AAF3816-F6ED-4532-A4E7-6FE0F85D4392}"/>
              </a:ext>
            </a:extLst>
          </p:cNvPr>
          <p:cNvSpPr/>
          <p:nvPr/>
        </p:nvSpPr>
        <p:spPr>
          <a:xfrm>
            <a:off x="6096000" y="3071883"/>
            <a:ext cx="2870200" cy="76200"/>
          </a:xfrm>
          <a:prstGeom prst="rect">
            <a:avLst/>
          </a:prstGeom>
          <a:solidFill>
            <a:srgbClr val="00B15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B5467C-8896-499F-891E-3E013A940D7F}"/>
              </a:ext>
            </a:extLst>
          </p:cNvPr>
          <p:cNvSpPr txBox="1"/>
          <p:nvPr/>
        </p:nvSpPr>
        <p:spPr>
          <a:xfrm>
            <a:off x="6248400" y="32496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B15D"/>
                </a:solidFill>
                <a:ea typeface="Calibri"/>
                <a:cs typeface="Calibri"/>
              </a:rPr>
              <a:t>≥ 80%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070A99-C667-4ACD-A779-4DA2E91B95BF}"/>
              </a:ext>
            </a:extLst>
          </p:cNvPr>
          <p:cNvSpPr txBox="1"/>
          <p:nvPr/>
        </p:nvSpPr>
        <p:spPr>
          <a:xfrm>
            <a:off x="6248400" y="34782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dirty="0">
                <a:ea typeface="Calibri"/>
                <a:cs typeface="Calibri"/>
              </a:rPr>
              <a:t>GO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D908C5-D8FD-4E66-B161-EEEBC7C98098}"/>
              </a:ext>
            </a:extLst>
          </p:cNvPr>
          <p:cNvSpPr txBox="1"/>
          <p:nvPr/>
        </p:nvSpPr>
        <p:spPr>
          <a:xfrm>
            <a:off x="6248400" y="3783083"/>
            <a:ext cx="2565400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B15D"/>
                </a:solidFill>
                <a:ea typeface="Calibri"/>
                <a:cs typeface="Calibri"/>
              </a:rPr>
              <a:t>Proceed to management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A07529-5298-4B8B-BE0D-FEC26747D5F3}"/>
              </a:ext>
            </a:extLst>
          </p:cNvPr>
          <p:cNvSpPr txBox="1"/>
          <p:nvPr/>
        </p:nvSpPr>
        <p:spPr>
          <a:xfrm>
            <a:off x="6248400" y="4011683"/>
            <a:ext cx="2565400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Deal eligible for full due diligence and term sheet. IC approval recommended.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850D6A51-745C-C390-31A5-E171159E6032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3" name="Picture 2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024C6EC3-2BD5-A791-91E5-E26C3F07D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A814C-CF00-9BD2-D13B-51B619118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249C90B-BB8B-91FA-C589-EB28D20134E4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PURPOSE &amp; FRAMEWORK OVERVIEW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6788B230-E4B2-6AD1-4D19-ECC44FE063C3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21E4D49-3AB4-19C9-13BB-7AA7C4D02F4B}"/>
              </a:ext>
            </a:extLst>
          </p:cNvPr>
          <p:cNvSpPr/>
          <p:nvPr/>
        </p:nvSpPr>
        <p:spPr>
          <a:xfrm>
            <a:off x="188936" y="804672"/>
            <a:ext cx="416052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F145EFA-1519-718F-7097-F5377CEFCF5C}"/>
              </a:ext>
            </a:extLst>
          </p:cNvPr>
          <p:cNvSpPr/>
          <p:nvPr/>
        </p:nvSpPr>
        <p:spPr>
          <a:xfrm>
            <a:off x="188936" y="804672"/>
            <a:ext cx="4160520" cy="3474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E46F7E8-A20B-493A-4590-D7C349945867}"/>
              </a:ext>
            </a:extLst>
          </p:cNvPr>
          <p:cNvSpPr/>
          <p:nvPr/>
        </p:nvSpPr>
        <p:spPr>
          <a:xfrm>
            <a:off x="262088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FRAMEWORK EXISTS</a:t>
            </a:r>
            <a:endParaRPr lang="en-US" sz="10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7F8893A3-7468-FBBD-1659-1209AFEE8C62}"/>
              </a:ext>
            </a:extLst>
          </p:cNvPr>
          <p:cNvSpPr/>
          <p:nvPr/>
        </p:nvSpPr>
        <p:spPr>
          <a:xfrm>
            <a:off x="353528" y="1298448"/>
            <a:ext cx="182880" cy="182880"/>
          </a:xfrm>
          <a:prstGeom prst="ellipse">
            <a:avLst/>
          </a:prstGeom>
          <a:solidFill>
            <a:srgbClr val="0A2F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36E5FA8E-37D2-C762-7EAC-4EF56489F743}"/>
              </a:ext>
            </a:extLst>
          </p:cNvPr>
          <p:cNvSpPr/>
          <p:nvPr/>
        </p:nvSpPr>
        <p:spPr>
          <a:xfrm>
            <a:off x="627848" y="12618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Enable consistent GO/NO-GO evaluation</a:t>
            </a:r>
            <a:endParaRPr lang="en-US" sz="10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3919177-587C-96D8-8B27-6CD317A92899}"/>
              </a:ext>
            </a:extLst>
          </p:cNvPr>
          <p:cNvSpPr/>
          <p:nvPr/>
        </p:nvSpPr>
        <p:spPr>
          <a:xfrm>
            <a:off x="353528" y="1938528"/>
            <a:ext cx="182880" cy="182880"/>
          </a:xfrm>
          <a:prstGeom prst="ellipse">
            <a:avLst/>
          </a:prstGeom>
          <a:solidFill>
            <a:srgbClr val="0A2F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E19DAC1-5C4F-7FEA-6202-7CACA2311D02}"/>
              </a:ext>
            </a:extLst>
          </p:cNvPr>
          <p:cNvSpPr/>
          <p:nvPr/>
        </p:nvSpPr>
        <p:spPr>
          <a:xfrm>
            <a:off x="627848" y="19019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high-potential deals before investing significant resources</a:t>
            </a:r>
            <a:endParaRPr lang="en-US" sz="1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9D3A45F-9D63-A424-9C5F-94E3F34AD8F7}"/>
              </a:ext>
            </a:extLst>
          </p:cNvPr>
          <p:cNvSpPr/>
          <p:nvPr/>
        </p:nvSpPr>
        <p:spPr>
          <a:xfrm>
            <a:off x="353528" y="2578608"/>
            <a:ext cx="182880" cy="182880"/>
          </a:xfrm>
          <a:prstGeom prst="ellipse">
            <a:avLst/>
          </a:prstGeom>
          <a:solidFill>
            <a:srgbClr val="0A2F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8C7FB69-B0E2-0181-2611-4BB57B847D42}"/>
              </a:ext>
            </a:extLst>
          </p:cNvPr>
          <p:cNvSpPr/>
          <p:nvPr/>
        </p:nvSpPr>
        <p:spPr>
          <a:xfrm>
            <a:off x="627848" y="2542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low-value or high-risk deals early and efficiently</a:t>
            </a:r>
            <a:endParaRPr lang="en-US" sz="10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24FB92E-9397-BEFA-9DFB-645F8585E2B8}"/>
              </a:ext>
            </a:extLst>
          </p:cNvPr>
          <p:cNvSpPr/>
          <p:nvPr/>
        </p:nvSpPr>
        <p:spPr>
          <a:xfrm>
            <a:off x="353528" y="3218688"/>
            <a:ext cx="182880" cy="182880"/>
          </a:xfrm>
          <a:prstGeom prst="ellipse">
            <a:avLst/>
          </a:prstGeom>
          <a:solidFill>
            <a:srgbClr val="0A2F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D60100F-6F0B-A21D-6A07-B6D56C9DE5AA}"/>
              </a:ext>
            </a:extLst>
          </p:cNvPr>
          <p:cNvSpPr/>
          <p:nvPr/>
        </p:nvSpPr>
        <p:spPr>
          <a:xfrm>
            <a:off x="627848" y="31821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deal is assessed commercially and strategically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E5D709B-D3BB-A786-12D2-77703088E3D4}"/>
              </a:ext>
            </a:extLst>
          </p:cNvPr>
          <p:cNvSpPr/>
          <p:nvPr/>
        </p:nvSpPr>
        <p:spPr>
          <a:xfrm>
            <a:off x="353528" y="3858768"/>
            <a:ext cx="182880" cy="182880"/>
          </a:xfrm>
          <a:prstGeom prst="ellipse">
            <a:avLst/>
          </a:prstGeom>
          <a:solidFill>
            <a:srgbClr val="0A2F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011CC94-8F4F-EA59-B670-7A0AE24CBBC7}"/>
              </a:ext>
            </a:extLst>
          </p:cNvPr>
          <p:cNvSpPr/>
          <p:nvPr/>
        </p:nvSpPr>
        <p:spPr>
          <a:xfrm>
            <a:off x="627848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Give the management a clear, structured recommendation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301FBEB-F15B-A175-4469-977D03DE4F01}"/>
              </a:ext>
            </a:extLst>
          </p:cNvPr>
          <p:cNvSpPr/>
          <p:nvPr/>
        </p:nvSpPr>
        <p:spPr>
          <a:xfrm>
            <a:off x="4669496" y="804672"/>
            <a:ext cx="42976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A4A2A19-753B-F5E7-EDF3-BB97C7442681}"/>
              </a:ext>
            </a:extLst>
          </p:cNvPr>
          <p:cNvSpPr/>
          <p:nvPr/>
        </p:nvSpPr>
        <p:spPr>
          <a:xfrm>
            <a:off x="4669496" y="804672"/>
            <a:ext cx="4341154" cy="34747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DC24F06-DAD3-82C0-D597-5D3BA5207EF5}"/>
              </a:ext>
            </a:extLst>
          </p:cNvPr>
          <p:cNvSpPr/>
          <p:nvPr/>
        </p:nvSpPr>
        <p:spPr>
          <a:xfrm>
            <a:off x="4742648" y="8046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TYPES COVERED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A0EE5C0-BC4D-7A81-0F1D-B26EE3CB24DE}"/>
              </a:ext>
            </a:extLst>
          </p:cNvPr>
          <p:cNvSpPr/>
          <p:nvPr/>
        </p:nvSpPr>
        <p:spPr>
          <a:xfrm>
            <a:off x="4834088" y="1298448"/>
            <a:ext cx="4041648" cy="914400"/>
          </a:xfrm>
          <a:prstGeom prst="rect">
            <a:avLst/>
          </a:prstGeom>
          <a:solidFill>
            <a:srgbClr val="EAEEF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E0C1CC3-B5E9-A035-20B1-28BDBCCF0D13}"/>
              </a:ext>
            </a:extLst>
          </p:cNvPr>
          <p:cNvSpPr/>
          <p:nvPr/>
        </p:nvSpPr>
        <p:spPr>
          <a:xfrm>
            <a:off x="4834088" y="1298448"/>
            <a:ext cx="64008" cy="91440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7FF638D-659F-2783-035F-12D5F80EA9C8}"/>
              </a:ext>
            </a:extLst>
          </p:cNvPr>
          <p:cNvSpPr/>
          <p:nvPr/>
        </p:nvSpPr>
        <p:spPr>
          <a:xfrm>
            <a:off x="4962104" y="13167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 A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B2D732E-DC6C-D460-B170-8F3E185F45D7}"/>
              </a:ext>
            </a:extLst>
          </p:cNvPr>
          <p:cNvSpPr/>
          <p:nvPr/>
        </p:nvSpPr>
        <p:spPr>
          <a:xfrm>
            <a:off x="4962104" y="159105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Investments 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70C8CE0-D17A-467F-9971-7018BE67DD70}"/>
              </a:ext>
            </a:extLst>
          </p:cNvPr>
          <p:cNvSpPr/>
          <p:nvPr/>
        </p:nvSpPr>
        <p:spPr>
          <a:xfrm>
            <a:off x="4834088" y="2421899"/>
            <a:ext cx="4041648" cy="914400"/>
          </a:xfrm>
          <a:prstGeom prst="rect">
            <a:avLst/>
          </a:prstGeom>
          <a:solidFill>
            <a:srgbClr val="EA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E7AC805-6749-ABCC-98E3-B89F0279944F}"/>
              </a:ext>
            </a:extLst>
          </p:cNvPr>
          <p:cNvSpPr/>
          <p:nvPr/>
        </p:nvSpPr>
        <p:spPr>
          <a:xfrm>
            <a:off x="4834088" y="2414016"/>
            <a:ext cx="64008" cy="91440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C073743-B72C-3C44-45B8-1A97FE294329}"/>
              </a:ext>
            </a:extLst>
          </p:cNvPr>
          <p:cNvSpPr/>
          <p:nvPr/>
        </p:nvSpPr>
        <p:spPr>
          <a:xfrm>
            <a:off x="4962104" y="24323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 B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E2861F6-7F22-7356-8131-127216BA895C}"/>
              </a:ext>
            </a:extLst>
          </p:cNvPr>
          <p:cNvSpPr/>
          <p:nvPr/>
        </p:nvSpPr>
        <p:spPr>
          <a:xfrm>
            <a:off x="4962104" y="270662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Investments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2D51991-42FE-018F-6B8E-AF16286E1BE6}"/>
              </a:ext>
            </a:extLst>
          </p:cNvPr>
          <p:cNvSpPr/>
          <p:nvPr/>
        </p:nvSpPr>
        <p:spPr>
          <a:xfrm>
            <a:off x="4834088" y="3529584"/>
            <a:ext cx="4041648" cy="914400"/>
          </a:xfrm>
          <a:prstGeom prst="rect">
            <a:avLst/>
          </a:prstGeom>
          <a:solidFill>
            <a:srgbClr val="EA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171DC57-1287-3FF1-B0F9-6BF83C7FE305}"/>
              </a:ext>
            </a:extLst>
          </p:cNvPr>
          <p:cNvSpPr/>
          <p:nvPr/>
        </p:nvSpPr>
        <p:spPr>
          <a:xfrm>
            <a:off x="4834088" y="3529584"/>
            <a:ext cx="64008" cy="91440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20F1390-C4DE-0400-B58E-AA64C561767A}"/>
              </a:ext>
            </a:extLst>
          </p:cNvPr>
          <p:cNvSpPr/>
          <p:nvPr/>
        </p:nvSpPr>
        <p:spPr>
          <a:xfrm>
            <a:off x="4962104" y="35478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 C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034598E-2BD3-9CD3-D4CE-FB9CE87C5D3F}"/>
              </a:ext>
            </a:extLst>
          </p:cNvPr>
          <p:cNvSpPr/>
          <p:nvPr/>
        </p:nvSpPr>
        <p:spPr>
          <a:xfrm>
            <a:off x="4962104" y="382219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Ventures</a:t>
            </a:r>
            <a:endParaRPr lang="en-US" sz="900" dirty="0"/>
          </a:p>
        </p:txBody>
      </p:sp>
      <p:pic>
        <p:nvPicPr>
          <p:cNvPr id="33" name="Picture 32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E009221F-5A02-33F7-3CAF-22525F1F1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8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93D2-DEBB-42FB-21D8-7E981548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C1E193C-383D-3127-AF30-7C2E8FD4B106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DEAL INTAKE – STANDARDISED INFORMATION CAPTURE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C012F36F-FA6F-483B-0449-68228784A018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880E382B-6939-8346-C42C-106AF0244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C2481AB7-F13E-572E-D007-F86753080084}"/>
              </a:ext>
            </a:extLst>
          </p:cNvPr>
          <p:cNvSpPr/>
          <p:nvPr/>
        </p:nvSpPr>
        <p:spPr>
          <a:xfrm>
            <a:off x="760738" y="651511"/>
            <a:ext cx="2777490" cy="4080510"/>
          </a:xfrm>
          <a:prstGeom prst="rect">
            <a:avLst/>
          </a:prstGeom>
          <a:solidFill>
            <a:srgbClr val="F4F6F4"/>
          </a:solidFill>
          <a:ln w="9525">
            <a:solidFill>
              <a:srgbClr val="D8DED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9F4C0B7-5247-CFE9-BE69-8E5F9E843FEB}"/>
              </a:ext>
            </a:extLst>
          </p:cNvPr>
          <p:cNvSpPr/>
          <p:nvPr/>
        </p:nvSpPr>
        <p:spPr>
          <a:xfrm>
            <a:off x="760738" y="651511"/>
            <a:ext cx="2777490" cy="288036"/>
          </a:xfrm>
          <a:prstGeom prst="rect">
            <a:avLst/>
          </a:prstGeom>
          <a:solidFill>
            <a:srgbClr val="1F6AD6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AA2AB30-7BCD-C377-D91A-49A6585EEA8C}"/>
              </a:ext>
            </a:extLst>
          </p:cNvPr>
          <p:cNvSpPr/>
          <p:nvPr/>
        </p:nvSpPr>
        <p:spPr>
          <a:xfrm>
            <a:off x="863608" y="651511"/>
            <a:ext cx="26403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IDENTITY</a:t>
            </a:r>
            <a:endParaRPr lang="en-US" sz="75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24AE119-D9BE-75D8-D6FE-CEA657AB08FB}"/>
              </a:ext>
            </a:extLst>
          </p:cNvPr>
          <p:cNvSpPr/>
          <p:nvPr/>
        </p:nvSpPr>
        <p:spPr>
          <a:xfrm>
            <a:off x="795028" y="1028701"/>
            <a:ext cx="270891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9667AD6-6B43-FD44-9ED7-6C3796F2BB09}"/>
              </a:ext>
            </a:extLst>
          </p:cNvPr>
          <p:cNvSpPr/>
          <p:nvPr/>
        </p:nvSpPr>
        <p:spPr>
          <a:xfrm>
            <a:off x="863608" y="104241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Deal / Project Name</a:t>
            </a:r>
            <a:endParaRPr lang="en-US" sz="713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C745D82-0B34-4F23-D480-36A897E9E4D8}"/>
              </a:ext>
            </a:extLst>
          </p:cNvPr>
          <p:cNvSpPr/>
          <p:nvPr/>
        </p:nvSpPr>
        <p:spPr>
          <a:xfrm>
            <a:off x="863608" y="117957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&lt;text&gt;</a:t>
            </a:r>
            <a:endParaRPr lang="en-US" sz="638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0F96C2F-B3B4-7CF0-2DB4-5DECEAEFA10F}"/>
              </a:ext>
            </a:extLst>
          </p:cNvPr>
          <p:cNvSpPr/>
          <p:nvPr/>
        </p:nvSpPr>
        <p:spPr>
          <a:xfrm>
            <a:off x="863608" y="144246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Deal Type</a:t>
            </a:r>
            <a:endParaRPr lang="en-US" sz="713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00D1AC5-97C5-BC8F-DD11-C029B5FD2A66}"/>
              </a:ext>
            </a:extLst>
          </p:cNvPr>
          <p:cNvSpPr/>
          <p:nvPr/>
        </p:nvSpPr>
        <p:spPr>
          <a:xfrm>
            <a:off x="863608" y="157962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/ Brownfield / JV</a:t>
            </a:r>
            <a:endParaRPr lang="en-US" sz="638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5DEECC1-61E4-43C3-D2B5-9FF8A72E57D0}"/>
              </a:ext>
            </a:extLst>
          </p:cNvPr>
          <p:cNvSpPr/>
          <p:nvPr/>
        </p:nvSpPr>
        <p:spPr>
          <a:xfrm>
            <a:off x="795028" y="1828801"/>
            <a:ext cx="270891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3E2E7F7A-4C36-D882-8195-E42DC060D7DC}"/>
              </a:ext>
            </a:extLst>
          </p:cNvPr>
          <p:cNvSpPr/>
          <p:nvPr/>
        </p:nvSpPr>
        <p:spPr>
          <a:xfrm>
            <a:off x="863608" y="184251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Sub-sector</a:t>
            </a:r>
            <a:endParaRPr lang="en-US" sz="713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A80B062-7983-9D1D-4758-919B8BFC98CD}"/>
              </a:ext>
            </a:extLst>
          </p:cNvPr>
          <p:cNvSpPr/>
          <p:nvPr/>
        </p:nvSpPr>
        <p:spPr>
          <a:xfrm>
            <a:off x="863608" y="197967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gen · Captive · Gas distribution · Gas-to-power · T&amp;D · Retail</a:t>
            </a:r>
            <a:endParaRPr lang="en-US" sz="638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2D9DF7D6-4433-26EA-98C8-0D68AA2373F3}"/>
              </a:ext>
            </a:extLst>
          </p:cNvPr>
          <p:cNvSpPr/>
          <p:nvPr/>
        </p:nvSpPr>
        <p:spPr>
          <a:xfrm>
            <a:off x="863608" y="224256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 / Counterparty</a:t>
            </a:r>
            <a:endParaRPr lang="en-US" sz="713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9AAD5AA-1414-9434-534A-057219B4D09C}"/>
              </a:ext>
            </a:extLst>
          </p:cNvPr>
          <p:cNvSpPr/>
          <p:nvPr/>
        </p:nvSpPr>
        <p:spPr>
          <a:xfrm>
            <a:off x="863608" y="237972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638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D236F92D-C7D1-EE94-52C2-2C4CE1C8D52C}"/>
              </a:ext>
            </a:extLst>
          </p:cNvPr>
          <p:cNvSpPr/>
          <p:nvPr/>
        </p:nvSpPr>
        <p:spPr>
          <a:xfrm>
            <a:off x="795028" y="2628901"/>
            <a:ext cx="270891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D3CFF06-7800-8001-E6D1-8C010B141C6F}"/>
              </a:ext>
            </a:extLst>
          </p:cNvPr>
          <p:cNvSpPr/>
          <p:nvPr/>
        </p:nvSpPr>
        <p:spPr>
          <a:xfrm>
            <a:off x="863608" y="264261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Class</a:t>
            </a:r>
            <a:endParaRPr lang="en-US" sz="713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2458B2DB-3C7A-C12D-B844-C1CAA2F672DE}"/>
              </a:ext>
            </a:extLst>
          </p:cNvPr>
          <p:cNvSpPr/>
          <p:nvPr/>
        </p:nvSpPr>
        <p:spPr>
          <a:xfrm>
            <a:off x="863608" y="277977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· Commercial · Utility · Public · SME cluster</a:t>
            </a:r>
            <a:endParaRPr lang="en-US" sz="638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994F8906-2C3F-0AE4-2471-7943F2628A02}"/>
              </a:ext>
            </a:extLst>
          </p:cNvPr>
          <p:cNvSpPr/>
          <p:nvPr/>
        </p:nvSpPr>
        <p:spPr>
          <a:xfrm>
            <a:off x="863608" y="304266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713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3689591-EE08-916C-DCD7-EFDD91CFA363}"/>
              </a:ext>
            </a:extLst>
          </p:cNvPr>
          <p:cNvSpPr/>
          <p:nvPr/>
        </p:nvSpPr>
        <p:spPr>
          <a:xfrm>
            <a:off x="863608" y="317982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LGA · Grid node / Disco franchise</a:t>
            </a:r>
            <a:endParaRPr lang="en-US" sz="638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A0D8A60F-DC07-0D84-1FFD-61FB08ADE9DE}"/>
              </a:ext>
            </a:extLst>
          </p:cNvPr>
          <p:cNvSpPr/>
          <p:nvPr/>
        </p:nvSpPr>
        <p:spPr>
          <a:xfrm>
            <a:off x="795028" y="3429001"/>
            <a:ext cx="270891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7E12440D-2085-C836-EA67-0BD1D19A9438}"/>
              </a:ext>
            </a:extLst>
          </p:cNvPr>
          <p:cNvSpPr/>
          <p:nvPr/>
        </p:nvSpPr>
        <p:spPr>
          <a:xfrm>
            <a:off x="863608" y="344271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Sponsor / Developer</a:t>
            </a:r>
            <a:endParaRPr lang="en-US" sz="713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DC597BC1-61DD-C35C-CD95-73DB628F41C9}"/>
              </a:ext>
            </a:extLst>
          </p:cNvPr>
          <p:cNvSpPr/>
          <p:nvPr/>
        </p:nvSpPr>
        <p:spPr>
          <a:xfrm>
            <a:off x="863608" y="357987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&lt;text&gt;</a:t>
            </a:r>
            <a:endParaRPr lang="en-US" sz="638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DFCCD9F-2281-421C-F7CF-FFE61C926690}"/>
              </a:ext>
            </a:extLst>
          </p:cNvPr>
          <p:cNvSpPr/>
          <p:nvPr/>
        </p:nvSpPr>
        <p:spPr>
          <a:xfrm>
            <a:off x="863608" y="384276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Sponsor’s years in operation</a:t>
            </a:r>
            <a:endParaRPr lang="en-US" sz="713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EA1C358-C4D3-80D4-080D-5C290BB1A914}"/>
              </a:ext>
            </a:extLst>
          </p:cNvPr>
          <p:cNvSpPr/>
          <p:nvPr/>
        </p:nvSpPr>
        <p:spPr>
          <a:xfrm>
            <a:off x="863608" y="397992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638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A86B1ECB-D380-3855-8609-426A82D063F1}"/>
              </a:ext>
            </a:extLst>
          </p:cNvPr>
          <p:cNvSpPr/>
          <p:nvPr/>
        </p:nvSpPr>
        <p:spPr>
          <a:xfrm>
            <a:off x="795028" y="4229101"/>
            <a:ext cx="270891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C61CD78E-9185-91B6-F4AF-AC7E60D9D958}"/>
              </a:ext>
            </a:extLst>
          </p:cNvPr>
          <p:cNvSpPr/>
          <p:nvPr/>
        </p:nvSpPr>
        <p:spPr>
          <a:xfrm>
            <a:off x="863608" y="4242817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Deal Source</a:t>
            </a:r>
            <a:endParaRPr lang="en-US" sz="713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AA2D8FBB-B605-59CF-C6E8-16336E70D70E}"/>
              </a:ext>
            </a:extLst>
          </p:cNvPr>
          <p:cNvSpPr/>
          <p:nvPr/>
        </p:nvSpPr>
        <p:spPr>
          <a:xfrm>
            <a:off x="863608" y="437997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/ BD / Partner / Government</a:t>
            </a:r>
            <a:endParaRPr lang="en-US" sz="638" dirty="0"/>
          </a:p>
        </p:txBody>
      </p:sp>
      <p:sp>
        <p:nvSpPr>
          <p:cNvPr id="32" name="Shape 57">
            <a:extLst>
              <a:ext uri="{FF2B5EF4-FFF2-40B4-BE49-F238E27FC236}">
                <a16:creationId xmlns:a16="http://schemas.microsoft.com/office/drawing/2014/main" id="{2E66A6AF-8CF7-5C1D-CD03-4EE8A83AAE00}"/>
              </a:ext>
            </a:extLst>
          </p:cNvPr>
          <p:cNvSpPr/>
          <p:nvPr/>
        </p:nvSpPr>
        <p:spPr>
          <a:xfrm>
            <a:off x="4079811" y="651511"/>
            <a:ext cx="2708910" cy="4080510"/>
          </a:xfrm>
          <a:prstGeom prst="rect">
            <a:avLst/>
          </a:prstGeom>
          <a:solidFill>
            <a:srgbClr val="F4F6F4"/>
          </a:solidFill>
          <a:ln w="9525">
            <a:solidFill>
              <a:srgbClr val="D8DED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Shape 58">
            <a:extLst>
              <a:ext uri="{FF2B5EF4-FFF2-40B4-BE49-F238E27FC236}">
                <a16:creationId xmlns:a16="http://schemas.microsoft.com/office/drawing/2014/main" id="{1236E8E4-BA42-D0F5-5D40-3BC6E72BF66D}"/>
              </a:ext>
            </a:extLst>
          </p:cNvPr>
          <p:cNvSpPr/>
          <p:nvPr/>
        </p:nvSpPr>
        <p:spPr>
          <a:xfrm>
            <a:off x="4079811" y="651511"/>
            <a:ext cx="2708910" cy="288036"/>
          </a:xfrm>
          <a:prstGeom prst="rect">
            <a:avLst/>
          </a:prstGeom>
          <a:solidFill>
            <a:srgbClr val="00B15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4" name="Text 59">
            <a:extLst>
              <a:ext uri="{FF2B5EF4-FFF2-40B4-BE49-F238E27FC236}">
                <a16:creationId xmlns:a16="http://schemas.microsoft.com/office/drawing/2014/main" id="{04E79D68-7E24-0CAF-FE5A-CA3B1CBCE00F}"/>
              </a:ext>
            </a:extLst>
          </p:cNvPr>
          <p:cNvSpPr/>
          <p:nvPr/>
        </p:nvSpPr>
        <p:spPr>
          <a:xfrm>
            <a:off x="4182681" y="651511"/>
            <a:ext cx="257175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750" dirty="0"/>
          </a:p>
        </p:txBody>
      </p:sp>
      <p:sp>
        <p:nvSpPr>
          <p:cNvPr id="35" name="Shape 60">
            <a:extLst>
              <a:ext uri="{FF2B5EF4-FFF2-40B4-BE49-F238E27FC236}">
                <a16:creationId xmlns:a16="http://schemas.microsoft.com/office/drawing/2014/main" id="{C5EBE3BC-9EBC-0E20-12A4-0A96B24079B4}"/>
              </a:ext>
            </a:extLst>
          </p:cNvPr>
          <p:cNvSpPr/>
          <p:nvPr/>
        </p:nvSpPr>
        <p:spPr>
          <a:xfrm>
            <a:off x="4114101" y="1028701"/>
            <a:ext cx="264033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6" name="Text 61">
            <a:extLst>
              <a:ext uri="{FF2B5EF4-FFF2-40B4-BE49-F238E27FC236}">
                <a16:creationId xmlns:a16="http://schemas.microsoft.com/office/drawing/2014/main" id="{C2617B89-3D31-839C-EBDA-829533B1DD71}"/>
              </a:ext>
            </a:extLst>
          </p:cNvPr>
          <p:cNvSpPr/>
          <p:nvPr/>
        </p:nvSpPr>
        <p:spPr>
          <a:xfrm>
            <a:off x="4182681" y="104241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Cost</a:t>
            </a:r>
            <a:endParaRPr lang="en-US" sz="713" dirty="0"/>
          </a:p>
        </p:txBody>
      </p:sp>
      <p:sp>
        <p:nvSpPr>
          <p:cNvPr id="37" name="Text 62">
            <a:extLst>
              <a:ext uri="{FF2B5EF4-FFF2-40B4-BE49-F238E27FC236}">
                <a16:creationId xmlns:a16="http://schemas.microsoft.com/office/drawing/2014/main" id="{8BEDE2CB-0497-F713-2DFF-EC8E16419F3A}"/>
              </a:ext>
            </a:extLst>
          </p:cNvPr>
          <p:cNvSpPr/>
          <p:nvPr/>
        </p:nvSpPr>
        <p:spPr>
          <a:xfrm>
            <a:off x="4182681" y="117957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m</a:t>
            </a:r>
            <a:endParaRPr lang="en-US" sz="638" dirty="0"/>
          </a:p>
        </p:txBody>
      </p:sp>
      <p:sp>
        <p:nvSpPr>
          <p:cNvPr id="38" name="Text 63">
            <a:extLst>
              <a:ext uri="{FF2B5EF4-FFF2-40B4-BE49-F238E27FC236}">
                <a16:creationId xmlns:a16="http://schemas.microsoft.com/office/drawing/2014/main" id="{919670C3-8200-E569-04D1-91AA8DF251BD}"/>
              </a:ext>
            </a:extLst>
          </p:cNvPr>
          <p:cNvSpPr/>
          <p:nvPr/>
        </p:nvSpPr>
        <p:spPr>
          <a:xfrm>
            <a:off x="4182681" y="144246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713" dirty="0"/>
          </a:p>
        </p:txBody>
      </p:sp>
      <p:sp>
        <p:nvSpPr>
          <p:cNvPr id="39" name="Text 64">
            <a:extLst>
              <a:ext uri="{FF2B5EF4-FFF2-40B4-BE49-F238E27FC236}">
                <a16:creationId xmlns:a16="http://schemas.microsoft.com/office/drawing/2014/main" id="{EF1FEFA9-1EE6-1E38-4D01-7441F705194A}"/>
              </a:ext>
            </a:extLst>
          </p:cNvPr>
          <p:cNvSpPr/>
          <p:nvPr/>
        </p:nvSpPr>
        <p:spPr>
          <a:xfrm>
            <a:off x="4182681" y="157962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/ mmscfd</a:t>
            </a:r>
            <a:endParaRPr lang="en-US" sz="638" dirty="0"/>
          </a:p>
        </p:txBody>
      </p:sp>
      <p:sp>
        <p:nvSpPr>
          <p:cNvPr id="40" name="Shape 65">
            <a:extLst>
              <a:ext uri="{FF2B5EF4-FFF2-40B4-BE49-F238E27FC236}">
                <a16:creationId xmlns:a16="http://schemas.microsoft.com/office/drawing/2014/main" id="{9E51F21B-BB41-DAAD-6D5C-CCE2D8936C20}"/>
              </a:ext>
            </a:extLst>
          </p:cNvPr>
          <p:cNvSpPr/>
          <p:nvPr/>
        </p:nvSpPr>
        <p:spPr>
          <a:xfrm>
            <a:off x="4114101" y="1828801"/>
            <a:ext cx="264033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1" name="Text 66">
            <a:extLst>
              <a:ext uri="{FF2B5EF4-FFF2-40B4-BE49-F238E27FC236}">
                <a16:creationId xmlns:a16="http://schemas.microsoft.com/office/drawing/2014/main" id="{2AFCBC63-F66A-0F6E-EDA2-EAAA9C2E4D2A}"/>
              </a:ext>
            </a:extLst>
          </p:cNvPr>
          <p:cNvSpPr/>
          <p:nvPr/>
        </p:nvSpPr>
        <p:spPr>
          <a:xfrm>
            <a:off x="4182681" y="184251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Tariff (N/kWh)</a:t>
            </a:r>
            <a:endParaRPr lang="en-US" sz="713" dirty="0"/>
          </a:p>
        </p:txBody>
      </p:sp>
      <p:sp>
        <p:nvSpPr>
          <p:cNvPr id="42" name="Text 67">
            <a:extLst>
              <a:ext uri="{FF2B5EF4-FFF2-40B4-BE49-F238E27FC236}">
                <a16:creationId xmlns:a16="http://schemas.microsoft.com/office/drawing/2014/main" id="{97A4A6F0-17AB-EE97-45D1-AA211A032B36}"/>
              </a:ext>
            </a:extLst>
          </p:cNvPr>
          <p:cNvSpPr/>
          <p:nvPr/>
        </p:nvSpPr>
        <p:spPr>
          <a:xfrm>
            <a:off x="4182681" y="197967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N/kWh)</a:t>
            </a:r>
            <a:endParaRPr lang="en-US" sz="638" dirty="0"/>
          </a:p>
        </p:txBody>
      </p:sp>
      <p:sp>
        <p:nvSpPr>
          <p:cNvPr id="43" name="Text 68">
            <a:extLst>
              <a:ext uri="{FF2B5EF4-FFF2-40B4-BE49-F238E27FC236}">
                <a16:creationId xmlns:a16="http://schemas.microsoft.com/office/drawing/2014/main" id="{A2CFCB4D-C918-8B99-6625-C1A3990C9ADF}"/>
              </a:ext>
            </a:extLst>
          </p:cNvPr>
          <p:cNvSpPr/>
          <p:nvPr/>
        </p:nvSpPr>
        <p:spPr>
          <a:xfrm>
            <a:off x="4182681" y="224256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Tenor </a:t>
            </a:r>
            <a:endParaRPr lang="en-US" sz="713" dirty="0"/>
          </a:p>
        </p:txBody>
      </p:sp>
      <p:sp>
        <p:nvSpPr>
          <p:cNvPr id="44" name="Text 69">
            <a:extLst>
              <a:ext uri="{FF2B5EF4-FFF2-40B4-BE49-F238E27FC236}">
                <a16:creationId xmlns:a16="http://schemas.microsoft.com/office/drawing/2014/main" id="{306150FA-F4D4-D319-7699-E961BF21CF83}"/>
              </a:ext>
            </a:extLst>
          </p:cNvPr>
          <p:cNvSpPr/>
          <p:nvPr/>
        </p:nvSpPr>
        <p:spPr>
          <a:xfrm>
            <a:off x="4182681" y="237972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638" dirty="0"/>
          </a:p>
        </p:txBody>
      </p:sp>
      <p:sp>
        <p:nvSpPr>
          <p:cNvPr id="45" name="Shape 70">
            <a:extLst>
              <a:ext uri="{FF2B5EF4-FFF2-40B4-BE49-F238E27FC236}">
                <a16:creationId xmlns:a16="http://schemas.microsoft.com/office/drawing/2014/main" id="{C473C6D3-6AE2-3D4F-720D-B66824E95B33}"/>
              </a:ext>
            </a:extLst>
          </p:cNvPr>
          <p:cNvSpPr/>
          <p:nvPr/>
        </p:nvSpPr>
        <p:spPr>
          <a:xfrm>
            <a:off x="4114101" y="2628901"/>
            <a:ext cx="264033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6" name="Text 71">
            <a:extLst>
              <a:ext uri="{FF2B5EF4-FFF2-40B4-BE49-F238E27FC236}">
                <a16:creationId xmlns:a16="http://schemas.microsoft.com/office/drawing/2014/main" id="{FD957476-249D-D69F-7025-8D10448D5358}"/>
              </a:ext>
            </a:extLst>
          </p:cNvPr>
          <p:cNvSpPr/>
          <p:nvPr/>
        </p:nvSpPr>
        <p:spPr>
          <a:xfrm>
            <a:off x="4182681" y="264261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Revenue (Last 2-3 years)</a:t>
            </a:r>
            <a:endParaRPr lang="en-US" sz="713" dirty="0"/>
          </a:p>
        </p:txBody>
      </p:sp>
      <p:sp>
        <p:nvSpPr>
          <p:cNvPr id="47" name="Text 72">
            <a:extLst>
              <a:ext uri="{FF2B5EF4-FFF2-40B4-BE49-F238E27FC236}">
                <a16:creationId xmlns:a16="http://schemas.microsoft.com/office/drawing/2014/main" id="{F12D369F-DFB3-EF8E-E456-F8C83EB21BCE}"/>
              </a:ext>
            </a:extLst>
          </p:cNvPr>
          <p:cNvSpPr/>
          <p:nvPr/>
        </p:nvSpPr>
        <p:spPr>
          <a:xfrm>
            <a:off x="4182681" y="277977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(steady-state)</a:t>
            </a:r>
            <a:endParaRPr lang="en-US" sz="638" dirty="0"/>
          </a:p>
        </p:txBody>
      </p:sp>
      <p:sp>
        <p:nvSpPr>
          <p:cNvPr id="48" name="Shape 75">
            <a:extLst>
              <a:ext uri="{FF2B5EF4-FFF2-40B4-BE49-F238E27FC236}">
                <a16:creationId xmlns:a16="http://schemas.microsoft.com/office/drawing/2014/main" id="{7D31E725-E89B-D108-36B7-9D2E25BE5050}"/>
              </a:ext>
            </a:extLst>
          </p:cNvPr>
          <p:cNvSpPr/>
          <p:nvPr/>
        </p:nvSpPr>
        <p:spPr>
          <a:xfrm>
            <a:off x="4114101" y="3429001"/>
            <a:ext cx="264033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9" name="Shape 80">
            <a:extLst>
              <a:ext uri="{FF2B5EF4-FFF2-40B4-BE49-F238E27FC236}">
                <a16:creationId xmlns:a16="http://schemas.microsoft.com/office/drawing/2014/main" id="{E15D66FF-406D-9D43-0BBF-8F155D14D455}"/>
              </a:ext>
            </a:extLst>
          </p:cNvPr>
          <p:cNvSpPr/>
          <p:nvPr/>
        </p:nvSpPr>
        <p:spPr>
          <a:xfrm>
            <a:off x="4114101" y="4229101"/>
            <a:ext cx="2640330" cy="3794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50" name="Text 81">
            <a:extLst>
              <a:ext uri="{FF2B5EF4-FFF2-40B4-BE49-F238E27FC236}">
                <a16:creationId xmlns:a16="http://schemas.microsoft.com/office/drawing/2014/main" id="{1210E302-A024-CD83-32C3-009BB19D81E6}"/>
              </a:ext>
            </a:extLst>
          </p:cNvPr>
          <p:cNvSpPr/>
          <p:nvPr/>
        </p:nvSpPr>
        <p:spPr>
          <a:xfrm>
            <a:off x="4182681" y="424281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</a:t>
            </a:r>
            <a:endParaRPr lang="en-US" sz="713" dirty="0"/>
          </a:p>
        </p:txBody>
      </p:sp>
      <p:sp>
        <p:nvSpPr>
          <p:cNvPr id="51" name="Text 82">
            <a:extLst>
              <a:ext uri="{FF2B5EF4-FFF2-40B4-BE49-F238E27FC236}">
                <a16:creationId xmlns:a16="http://schemas.microsoft.com/office/drawing/2014/main" id="{B01A0719-5EE0-B813-4505-44F05FEB3B8E}"/>
              </a:ext>
            </a:extLst>
          </p:cNvPr>
          <p:cNvSpPr/>
          <p:nvPr/>
        </p:nvSpPr>
        <p:spPr>
          <a:xfrm>
            <a:off x="4182681" y="437997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: Equity (indicative)</a:t>
            </a:r>
            <a:endParaRPr lang="en-US" sz="638" dirty="0"/>
          </a:p>
        </p:txBody>
      </p:sp>
      <p:sp>
        <p:nvSpPr>
          <p:cNvPr id="52" name="Text 71">
            <a:extLst>
              <a:ext uri="{FF2B5EF4-FFF2-40B4-BE49-F238E27FC236}">
                <a16:creationId xmlns:a16="http://schemas.microsoft.com/office/drawing/2014/main" id="{D18CCA6A-57F3-AB57-5CD4-39F83C898EDB}"/>
              </a:ext>
            </a:extLst>
          </p:cNvPr>
          <p:cNvSpPr/>
          <p:nvPr/>
        </p:nvSpPr>
        <p:spPr>
          <a:xfrm>
            <a:off x="4182681" y="304266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EBITDA (Last 2-3 years)</a:t>
            </a:r>
            <a:endParaRPr lang="en-US" sz="713" dirty="0"/>
          </a:p>
        </p:txBody>
      </p:sp>
      <p:sp>
        <p:nvSpPr>
          <p:cNvPr id="53" name="Text 72">
            <a:extLst>
              <a:ext uri="{FF2B5EF4-FFF2-40B4-BE49-F238E27FC236}">
                <a16:creationId xmlns:a16="http://schemas.microsoft.com/office/drawing/2014/main" id="{2EB28C64-C0A4-858B-E633-51D4ADE8E686}"/>
              </a:ext>
            </a:extLst>
          </p:cNvPr>
          <p:cNvSpPr/>
          <p:nvPr/>
        </p:nvSpPr>
        <p:spPr>
          <a:xfrm>
            <a:off x="4182681" y="317982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m</a:t>
            </a:r>
            <a:endParaRPr lang="en-US" sz="638" dirty="0"/>
          </a:p>
        </p:txBody>
      </p:sp>
      <p:sp>
        <p:nvSpPr>
          <p:cNvPr id="54" name="Text 71">
            <a:extLst>
              <a:ext uri="{FF2B5EF4-FFF2-40B4-BE49-F238E27FC236}">
                <a16:creationId xmlns:a16="http://schemas.microsoft.com/office/drawing/2014/main" id="{9D11F433-E146-0E29-44C6-AD6B963D5604}"/>
              </a:ext>
            </a:extLst>
          </p:cNvPr>
          <p:cNvSpPr/>
          <p:nvPr/>
        </p:nvSpPr>
        <p:spPr>
          <a:xfrm>
            <a:off x="4182681" y="338556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713" dirty="0"/>
          </a:p>
        </p:txBody>
      </p:sp>
      <p:sp>
        <p:nvSpPr>
          <p:cNvPr id="55" name="Text 72">
            <a:extLst>
              <a:ext uri="{FF2B5EF4-FFF2-40B4-BE49-F238E27FC236}">
                <a16:creationId xmlns:a16="http://schemas.microsoft.com/office/drawing/2014/main" id="{82B64D61-1C4A-847B-A206-372FBBDD4E65}"/>
              </a:ext>
            </a:extLst>
          </p:cNvPr>
          <p:cNvSpPr/>
          <p:nvPr/>
        </p:nvSpPr>
        <p:spPr>
          <a:xfrm>
            <a:off x="4182681" y="352272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m</a:t>
            </a:r>
            <a:endParaRPr lang="en-US" sz="638" dirty="0"/>
          </a:p>
        </p:txBody>
      </p:sp>
      <p:sp>
        <p:nvSpPr>
          <p:cNvPr id="56" name="Text 71">
            <a:extLst>
              <a:ext uri="{FF2B5EF4-FFF2-40B4-BE49-F238E27FC236}">
                <a16:creationId xmlns:a16="http://schemas.microsoft.com/office/drawing/2014/main" id="{2E4D379D-024D-3253-3E42-FA973CF95ABB}"/>
              </a:ext>
            </a:extLst>
          </p:cNvPr>
          <p:cNvSpPr/>
          <p:nvPr/>
        </p:nvSpPr>
        <p:spPr>
          <a:xfrm>
            <a:off x="4182681" y="3819907"/>
            <a:ext cx="25374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</a:t>
            </a:r>
            <a:endParaRPr lang="en-US" sz="713" dirty="0"/>
          </a:p>
        </p:txBody>
      </p:sp>
      <p:sp>
        <p:nvSpPr>
          <p:cNvPr id="57" name="Text 72">
            <a:extLst>
              <a:ext uri="{FF2B5EF4-FFF2-40B4-BE49-F238E27FC236}">
                <a16:creationId xmlns:a16="http://schemas.microsoft.com/office/drawing/2014/main" id="{EAD4404C-4EC9-04D4-378D-5464390C9E6B}"/>
              </a:ext>
            </a:extLst>
          </p:cNvPr>
          <p:cNvSpPr/>
          <p:nvPr/>
        </p:nvSpPr>
        <p:spPr>
          <a:xfrm>
            <a:off x="4182681" y="3957067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m</a:t>
            </a:r>
            <a:endParaRPr lang="en-US" sz="638" dirty="0"/>
          </a:p>
        </p:txBody>
      </p:sp>
    </p:spTree>
    <p:extLst>
      <p:ext uri="{BB962C8B-B14F-4D97-AF65-F5344CB8AC3E}">
        <p14:creationId xmlns:p14="http://schemas.microsoft.com/office/powerpoint/2010/main" val="428079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696D-1914-37A2-35A4-20AE29EE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FAADEB-71B0-1A9A-C127-6272C382F37B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KNOCKOUT CRITERIA 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9316D1D8-9A2A-EF4B-4E58-9531E00114F5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B081070F-657A-8A83-18A0-CBC8F84C6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6B022C-EE92-7AFD-E673-69E142E6A737}"/>
              </a:ext>
            </a:extLst>
          </p:cNvPr>
          <p:cNvSpPr txBox="1"/>
          <p:nvPr/>
        </p:nvSpPr>
        <p:spPr>
          <a:xfrm>
            <a:off x="173763" y="515779"/>
            <a:ext cx="8763000" cy="2154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 i="1" dirty="0">
                <a:solidFill>
                  <a:srgbClr val="5A6B7B"/>
                </a:solidFill>
                <a:ea typeface="Calibri"/>
                <a:cs typeface="Calibri"/>
              </a:rPr>
              <a:t>If ANY of the following questions cannot be answered satisfactorily, the deal is rejected immediately.</a:t>
            </a:r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0FEE415E-1D1F-37E4-E3BE-9CBA206EA40E}"/>
              </a:ext>
            </a:extLst>
          </p:cNvPr>
          <p:cNvSpPr/>
          <p:nvPr/>
        </p:nvSpPr>
        <p:spPr>
          <a:xfrm>
            <a:off x="881851" y="742442"/>
            <a:ext cx="2777490" cy="21945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C38497E7-1C09-CF49-40BB-D0EAFE9CD4C8}"/>
              </a:ext>
            </a:extLst>
          </p:cNvPr>
          <p:cNvSpPr/>
          <p:nvPr/>
        </p:nvSpPr>
        <p:spPr>
          <a:xfrm>
            <a:off x="984721" y="742442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25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Demand &amp; Counterparty</a:t>
            </a:r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0D830337-CEA3-B1CA-474C-AE42BC278C98}"/>
              </a:ext>
            </a:extLst>
          </p:cNvPr>
          <p:cNvSpPr/>
          <p:nvPr/>
        </p:nvSpPr>
        <p:spPr>
          <a:xfrm>
            <a:off x="984721" y="742442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675" dirty="0"/>
          </a:p>
        </p:txBody>
      </p:sp>
      <p:sp>
        <p:nvSpPr>
          <p:cNvPr id="61" name="Shape 5">
            <a:extLst>
              <a:ext uri="{FF2B5EF4-FFF2-40B4-BE49-F238E27FC236}">
                <a16:creationId xmlns:a16="http://schemas.microsoft.com/office/drawing/2014/main" id="{0AE0A204-C659-874D-2399-B7A1271994FD}"/>
              </a:ext>
            </a:extLst>
          </p:cNvPr>
          <p:cNvSpPr/>
          <p:nvPr/>
        </p:nvSpPr>
        <p:spPr>
          <a:xfrm>
            <a:off x="4406151" y="769874"/>
            <a:ext cx="2777490" cy="219456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3C415001-FD37-EFC6-44BF-E06B040D4BB2}"/>
              </a:ext>
            </a:extLst>
          </p:cNvPr>
          <p:cNvSpPr/>
          <p:nvPr/>
        </p:nvSpPr>
        <p:spPr>
          <a:xfrm>
            <a:off x="4509021" y="769874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25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Feasibility &amp; Returns</a:t>
            </a:r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2D7249E8-1486-502B-827E-3507BEE3CCD0}"/>
              </a:ext>
            </a:extLst>
          </p:cNvPr>
          <p:cNvSpPr/>
          <p:nvPr/>
        </p:nvSpPr>
        <p:spPr>
          <a:xfrm>
            <a:off x="4509021" y="769874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675" dirty="0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1C4DAC87-50A6-9875-DFEA-C3D3C643A482}"/>
              </a:ext>
            </a:extLst>
          </p:cNvPr>
          <p:cNvSpPr/>
          <p:nvPr/>
        </p:nvSpPr>
        <p:spPr>
          <a:xfrm>
            <a:off x="881851" y="1051052"/>
            <a:ext cx="2777490" cy="11109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68" name="Shape 12">
            <a:extLst>
              <a:ext uri="{FF2B5EF4-FFF2-40B4-BE49-F238E27FC236}">
                <a16:creationId xmlns:a16="http://schemas.microsoft.com/office/drawing/2014/main" id="{F6457EF8-0D49-EEBF-8483-AE68E7B9C0E4}"/>
              </a:ext>
            </a:extLst>
          </p:cNvPr>
          <p:cNvSpPr/>
          <p:nvPr/>
        </p:nvSpPr>
        <p:spPr>
          <a:xfrm>
            <a:off x="881851" y="1051052"/>
            <a:ext cx="61722" cy="111099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0331F9F2-546D-727A-6A70-7E70C47D7ACB}"/>
              </a:ext>
            </a:extLst>
          </p:cNvPr>
          <p:cNvSpPr/>
          <p:nvPr/>
        </p:nvSpPr>
        <p:spPr>
          <a:xfrm>
            <a:off x="943573" y="1051052"/>
            <a:ext cx="2715768" cy="28803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A4410C6C-BBC8-06DC-2910-53AF72D14750}"/>
              </a:ext>
            </a:extLst>
          </p:cNvPr>
          <p:cNvSpPr/>
          <p:nvPr/>
        </p:nvSpPr>
        <p:spPr>
          <a:xfrm>
            <a:off x="1019011" y="1051052"/>
            <a:ext cx="377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12F8AC21-0D67-BE75-54B7-4B7A2B2EE029}"/>
              </a:ext>
            </a:extLst>
          </p:cNvPr>
          <p:cNvSpPr/>
          <p:nvPr/>
        </p:nvSpPr>
        <p:spPr>
          <a:xfrm>
            <a:off x="1464781" y="1051052"/>
            <a:ext cx="21259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Demand/Off taker</a:t>
            </a:r>
            <a:endParaRPr lang="en-US" sz="100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0B967B99-2CD0-90AD-67DD-685218E3AC71}"/>
              </a:ext>
            </a:extLst>
          </p:cNvPr>
          <p:cNvSpPr/>
          <p:nvPr/>
        </p:nvSpPr>
        <p:spPr>
          <a:xfrm>
            <a:off x="1019011" y="1393952"/>
            <a:ext cx="25717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b="1" i="1" dirty="0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Is there confirmed, scalable demand backed by evidence (not estimates)?</a:t>
            </a:r>
            <a:endParaRPr lang="en-US" sz="75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B8979EE6-3BF4-6AB8-60EE-D982B3AF1009}"/>
              </a:ext>
            </a:extLst>
          </p:cNvPr>
          <p:cNvSpPr/>
          <p:nvPr/>
        </p:nvSpPr>
        <p:spPr>
          <a:xfrm>
            <a:off x="1019011" y="1654556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b="1" dirty="0">
                <a:solidFill>
                  <a:srgbClr val="1F5130"/>
                </a:solidFill>
              </a:rPr>
              <a:t>PASS IF: </a:t>
            </a:r>
            <a:r>
              <a:rPr lang="en-US" sz="713" dirty="0">
                <a:solidFill>
                  <a:srgbClr val="2A2F2C"/>
                </a:solidFill>
              </a:rPr>
              <a:t>Metered consumption, signed LOIs, or verifiable historical bills demonstrating real demand at the scale proposed.</a:t>
            </a:r>
            <a:endParaRPr lang="en-US" sz="713" dirty="0"/>
          </a:p>
        </p:txBody>
      </p:sp>
      <p:sp>
        <p:nvSpPr>
          <p:cNvPr id="74" name="Text 18">
            <a:extLst>
              <a:ext uri="{FF2B5EF4-FFF2-40B4-BE49-F238E27FC236}">
                <a16:creationId xmlns:a16="http://schemas.microsoft.com/office/drawing/2014/main" id="{1A816FB4-5CC2-39EC-F9E4-A53635A2044B}"/>
              </a:ext>
            </a:extLst>
          </p:cNvPr>
          <p:cNvSpPr/>
          <p:nvPr/>
        </p:nvSpPr>
        <p:spPr>
          <a:xfrm>
            <a:off x="1019011" y="1942592"/>
            <a:ext cx="25717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b="1" kern="0" spc="75" dirty="0">
                <a:solidFill>
                  <a:srgbClr val="C79A2E"/>
                </a:solidFill>
              </a:rPr>
              <a:t>EVIDENCE:  </a:t>
            </a:r>
            <a:r>
              <a:rPr lang="en-US" sz="638" i="1" dirty="0">
                <a:solidFill>
                  <a:srgbClr val="6B7570"/>
                </a:solidFill>
              </a:rPr>
              <a:t>Site survey · meter logs · signed LOIs / MOUs</a:t>
            </a:r>
            <a:endParaRPr lang="en-US" sz="638" dirty="0"/>
          </a:p>
        </p:txBody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6DA2A681-0F33-7CB4-2C19-541BCE4097D4}"/>
              </a:ext>
            </a:extLst>
          </p:cNvPr>
          <p:cNvSpPr/>
          <p:nvPr/>
        </p:nvSpPr>
        <p:spPr>
          <a:xfrm>
            <a:off x="881851" y="2244344"/>
            <a:ext cx="2777490" cy="11109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76" name="Shape 20">
            <a:extLst>
              <a:ext uri="{FF2B5EF4-FFF2-40B4-BE49-F238E27FC236}">
                <a16:creationId xmlns:a16="http://schemas.microsoft.com/office/drawing/2014/main" id="{88F79E12-6BCF-38AE-52A9-3F5F1DEB010B}"/>
              </a:ext>
            </a:extLst>
          </p:cNvPr>
          <p:cNvSpPr/>
          <p:nvPr/>
        </p:nvSpPr>
        <p:spPr>
          <a:xfrm>
            <a:off x="881851" y="2244344"/>
            <a:ext cx="61722" cy="111099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0E59F9B6-D593-025C-2E34-57FE54AE251A}"/>
              </a:ext>
            </a:extLst>
          </p:cNvPr>
          <p:cNvSpPr/>
          <p:nvPr/>
        </p:nvSpPr>
        <p:spPr>
          <a:xfrm>
            <a:off x="943573" y="2244344"/>
            <a:ext cx="2715768" cy="28803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A17613E3-AA10-DB29-9664-4F479CDFC170}"/>
              </a:ext>
            </a:extLst>
          </p:cNvPr>
          <p:cNvSpPr/>
          <p:nvPr/>
        </p:nvSpPr>
        <p:spPr>
          <a:xfrm>
            <a:off x="1019011" y="2244344"/>
            <a:ext cx="377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00DF951B-5CB1-5FD0-A562-5319709D3AB6}"/>
              </a:ext>
            </a:extLst>
          </p:cNvPr>
          <p:cNvSpPr/>
          <p:nvPr/>
        </p:nvSpPr>
        <p:spPr>
          <a:xfrm>
            <a:off x="1464781" y="2244344"/>
            <a:ext cx="21259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Creditworthy Counterparty</a:t>
            </a:r>
            <a:endParaRPr lang="en-US" sz="1000" dirty="0"/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F3AE82E8-EA61-CB92-23EE-DD60B37362B9}"/>
              </a:ext>
            </a:extLst>
          </p:cNvPr>
          <p:cNvSpPr/>
          <p:nvPr/>
        </p:nvSpPr>
        <p:spPr>
          <a:xfrm>
            <a:off x="1019011" y="2587244"/>
            <a:ext cx="25717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b="1" i="1" dirty="0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Is the customer named, KYC-clean, and able to pay for the contract life?</a:t>
            </a:r>
            <a:endParaRPr lang="en-US" sz="750" dirty="0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B4A73531-664E-2A9E-75B8-FF6B16172071}"/>
              </a:ext>
            </a:extLst>
          </p:cNvPr>
          <p:cNvSpPr/>
          <p:nvPr/>
        </p:nvSpPr>
        <p:spPr>
          <a:xfrm>
            <a:off x="1019011" y="2847848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b="1" dirty="0">
                <a:solidFill>
                  <a:srgbClr val="1F5130"/>
                </a:solidFill>
              </a:rPr>
              <a:t>PASS IF: </a:t>
            </a:r>
            <a:r>
              <a:rPr lang="en-US" sz="713" dirty="0">
                <a:solidFill>
                  <a:srgbClr val="2A2F2C"/>
                </a:solidFill>
              </a:rPr>
              <a:t>Investment-grade or mid-tier corporate with 2 years of clean payment history; no sanctions, or unresolved litigation.</a:t>
            </a:r>
            <a:endParaRPr lang="en-US" sz="713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8C5ED82D-65E6-B223-62CC-41A2A766013A}"/>
              </a:ext>
            </a:extLst>
          </p:cNvPr>
          <p:cNvSpPr/>
          <p:nvPr/>
        </p:nvSpPr>
        <p:spPr>
          <a:xfrm>
            <a:off x="1019011" y="3135884"/>
            <a:ext cx="25717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b="1" kern="0" spc="75" dirty="0">
                <a:solidFill>
                  <a:srgbClr val="C79A2E"/>
                </a:solidFill>
              </a:rPr>
              <a:t>EVIDENCE:  </a:t>
            </a:r>
            <a:r>
              <a:rPr lang="en-US" sz="638" i="1" dirty="0">
                <a:solidFill>
                  <a:srgbClr val="6B7570"/>
                </a:solidFill>
              </a:rPr>
              <a:t>2-yr audited F/S  · KYC pack</a:t>
            </a:r>
            <a:endParaRPr lang="en-US" sz="638" dirty="0"/>
          </a:p>
        </p:txBody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454D6EF6-92C9-DB2A-C422-00B1FAF6AB6B}"/>
              </a:ext>
            </a:extLst>
          </p:cNvPr>
          <p:cNvSpPr/>
          <p:nvPr/>
        </p:nvSpPr>
        <p:spPr>
          <a:xfrm>
            <a:off x="1019011" y="3437636"/>
            <a:ext cx="377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7" name="Text 31">
            <a:extLst>
              <a:ext uri="{FF2B5EF4-FFF2-40B4-BE49-F238E27FC236}">
                <a16:creationId xmlns:a16="http://schemas.microsoft.com/office/drawing/2014/main" id="{B83B9C56-8096-92EC-0A74-6D2C41861A8E}"/>
              </a:ext>
            </a:extLst>
          </p:cNvPr>
          <p:cNvSpPr/>
          <p:nvPr/>
        </p:nvSpPr>
        <p:spPr>
          <a:xfrm>
            <a:off x="1464781" y="3437636"/>
            <a:ext cx="21259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Minimum Scale</a:t>
            </a:r>
            <a:endParaRPr lang="en-US" sz="1000" dirty="0"/>
          </a:p>
        </p:txBody>
      </p:sp>
      <p:sp>
        <p:nvSpPr>
          <p:cNvPr id="91" name="Shape 35">
            <a:extLst>
              <a:ext uri="{FF2B5EF4-FFF2-40B4-BE49-F238E27FC236}">
                <a16:creationId xmlns:a16="http://schemas.microsoft.com/office/drawing/2014/main" id="{9C87F04B-C875-A43B-5946-B75EAB4E40F1}"/>
              </a:ext>
            </a:extLst>
          </p:cNvPr>
          <p:cNvSpPr/>
          <p:nvPr/>
        </p:nvSpPr>
        <p:spPr>
          <a:xfrm>
            <a:off x="4406151" y="1078484"/>
            <a:ext cx="2777490" cy="11109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350" dirty="0"/>
          </a:p>
        </p:txBody>
      </p:sp>
      <p:sp>
        <p:nvSpPr>
          <p:cNvPr id="92" name="Shape 36">
            <a:extLst>
              <a:ext uri="{FF2B5EF4-FFF2-40B4-BE49-F238E27FC236}">
                <a16:creationId xmlns:a16="http://schemas.microsoft.com/office/drawing/2014/main" id="{D2CC8D22-565F-33DC-A1CC-DFFCFE28BEEB}"/>
              </a:ext>
            </a:extLst>
          </p:cNvPr>
          <p:cNvSpPr/>
          <p:nvPr/>
        </p:nvSpPr>
        <p:spPr>
          <a:xfrm>
            <a:off x="4406151" y="1078484"/>
            <a:ext cx="61722" cy="1110996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93" name="Shape 37">
            <a:extLst>
              <a:ext uri="{FF2B5EF4-FFF2-40B4-BE49-F238E27FC236}">
                <a16:creationId xmlns:a16="http://schemas.microsoft.com/office/drawing/2014/main" id="{1C1D2860-168C-4C30-981B-B8DF6AC4605A}"/>
              </a:ext>
            </a:extLst>
          </p:cNvPr>
          <p:cNvSpPr/>
          <p:nvPr/>
        </p:nvSpPr>
        <p:spPr>
          <a:xfrm>
            <a:off x="4467873" y="1078484"/>
            <a:ext cx="2715768" cy="288036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94" name="Text 38">
            <a:extLst>
              <a:ext uri="{FF2B5EF4-FFF2-40B4-BE49-F238E27FC236}">
                <a16:creationId xmlns:a16="http://schemas.microsoft.com/office/drawing/2014/main" id="{04533BED-F2B0-A4B7-95B5-B3912B50B69E}"/>
              </a:ext>
            </a:extLst>
          </p:cNvPr>
          <p:cNvSpPr/>
          <p:nvPr/>
        </p:nvSpPr>
        <p:spPr>
          <a:xfrm>
            <a:off x="4543311" y="1078484"/>
            <a:ext cx="377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B083C8DA-D5F1-421E-6F63-9B90BC6ACAA0}"/>
              </a:ext>
            </a:extLst>
          </p:cNvPr>
          <p:cNvSpPr/>
          <p:nvPr/>
        </p:nvSpPr>
        <p:spPr>
          <a:xfrm>
            <a:off x="4989081" y="1078484"/>
            <a:ext cx="21259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Regulatory Pathway</a:t>
            </a:r>
            <a:endParaRPr lang="en-US" sz="1000" dirty="0"/>
          </a:p>
        </p:txBody>
      </p:sp>
      <p:sp>
        <p:nvSpPr>
          <p:cNvPr id="103" name="Text 47">
            <a:extLst>
              <a:ext uri="{FF2B5EF4-FFF2-40B4-BE49-F238E27FC236}">
                <a16:creationId xmlns:a16="http://schemas.microsoft.com/office/drawing/2014/main" id="{00270982-5E7B-AF8D-8940-7EC8F9B8C4D4}"/>
              </a:ext>
            </a:extLst>
          </p:cNvPr>
          <p:cNvSpPr/>
          <p:nvPr/>
        </p:nvSpPr>
        <p:spPr>
          <a:xfrm>
            <a:off x="5002797" y="2264918"/>
            <a:ext cx="21259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Commercial Viability</a:t>
            </a:r>
          </a:p>
        </p:txBody>
      </p:sp>
      <p:sp>
        <p:nvSpPr>
          <p:cNvPr id="104" name="Text 48">
            <a:extLst>
              <a:ext uri="{FF2B5EF4-FFF2-40B4-BE49-F238E27FC236}">
                <a16:creationId xmlns:a16="http://schemas.microsoft.com/office/drawing/2014/main" id="{30A6FFA3-10FE-4E7B-F710-EEEE8136A7F3}"/>
              </a:ext>
            </a:extLst>
          </p:cNvPr>
          <p:cNvSpPr/>
          <p:nvPr/>
        </p:nvSpPr>
        <p:spPr>
          <a:xfrm>
            <a:off x="4543311" y="1393589"/>
            <a:ext cx="25717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b="1" i="1" dirty="0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Are all required permits and licences obtainable within the project timeline?</a:t>
            </a:r>
            <a:endParaRPr lang="en-US" sz="750" dirty="0"/>
          </a:p>
        </p:txBody>
      </p:sp>
      <p:sp>
        <p:nvSpPr>
          <p:cNvPr id="105" name="Text 49">
            <a:extLst>
              <a:ext uri="{FF2B5EF4-FFF2-40B4-BE49-F238E27FC236}">
                <a16:creationId xmlns:a16="http://schemas.microsoft.com/office/drawing/2014/main" id="{1C3DAC90-D5EE-F83C-AABD-31F8A488B65D}"/>
              </a:ext>
            </a:extLst>
          </p:cNvPr>
          <p:cNvSpPr/>
          <p:nvPr/>
        </p:nvSpPr>
        <p:spPr>
          <a:xfrm>
            <a:off x="4554779" y="1668272"/>
            <a:ext cx="26220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b="1" dirty="0">
                <a:solidFill>
                  <a:srgbClr val="1F5130"/>
                </a:solidFill>
              </a:rPr>
              <a:t>PASS IF: </a:t>
            </a:r>
            <a:r>
              <a:rPr lang="en-US" sz="713" dirty="0">
                <a:solidFill>
                  <a:srgbClr val="2A2F2C"/>
                </a:solidFill>
              </a:rPr>
              <a:t>Regulator (NERC / NMDPRA / NUPRC / state) pathway named for each permit; precedent exists; lead time ≤ project schedule.</a:t>
            </a:r>
            <a:endParaRPr lang="en-US" sz="713" dirty="0"/>
          </a:p>
        </p:txBody>
      </p:sp>
      <p:sp>
        <p:nvSpPr>
          <p:cNvPr id="106" name="Text 50">
            <a:extLst>
              <a:ext uri="{FF2B5EF4-FFF2-40B4-BE49-F238E27FC236}">
                <a16:creationId xmlns:a16="http://schemas.microsoft.com/office/drawing/2014/main" id="{6907BD6C-4201-2968-4F28-FD8CE88F2DAA}"/>
              </a:ext>
            </a:extLst>
          </p:cNvPr>
          <p:cNvSpPr/>
          <p:nvPr/>
        </p:nvSpPr>
        <p:spPr>
          <a:xfrm>
            <a:off x="4543311" y="1970024"/>
            <a:ext cx="25717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b="1" kern="0" spc="75" dirty="0">
                <a:solidFill>
                  <a:srgbClr val="C79A2E"/>
                </a:solidFill>
              </a:rPr>
              <a:t>EVIDENCE:  </a:t>
            </a:r>
            <a:r>
              <a:rPr lang="en-US" sz="638" i="1" dirty="0">
                <a:solidFill>
                  <a:srgbClr val="6B7570"/>
                </a:solidFill>
              </a:rPr>
              <a:t>Regulatory opinion · permit register · precedents</a:t>
            </a:r>
            <a:endParaRPr lang="en-US" sz="638" dirty="0"/>
          </a:p>
        </p:txBody>
      </p:sp>
      <p:sp>
        <p:nvSpPr>
          <p:cNvPr id="110" name="Text 54">
            <a:extLst>
              <a:ext uri="{FF2B5EF4-FFF2-40B4-BE49-F238E27FC236}">
                <a16:creationId xmlns:a16="http://schemas.microsoft.com/office/drawing/2014/main" id="{5DF39453-030D-53C1-A1AF-6B8AAEA6E3AC}"/>
              </a:ext>
            </a:extLst>
          </p:cNvPr>
          <p:cNvSpPr/>
          <p:nvPr/>
        </p:nvSpPr>
        <p:spPr>
          <a:xfrm>
            <a:off x="4543311" y="3465068"/>
            <a:ext cx="377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15" name="Shape 59">
            <a:extLst>
              <a:ext uri="{FF2B5EF4-FFF2-40B4-BE49-F238E27FC236}">
                <a16:creationId xmlns:a16="http://schemas.microsoft.com/office/drawing/2014/main" id="{516D1437-1F57-C32F-3C3A-CF27B7F8EFDF}"/>
              </a:ext>
            </a:extLst>
          </p:cNvPr>
          <p:cNvSpPr/>
          <p:nvPr/>
        </p:nvSpPr>
        <p:spPr>
          <a:xfrm>
            <a:off x="4413009" y="2271776"/>
            <a:ext cx="2777490" cy="11109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16" name="Shape 60">
            <a:extLst>
              <a:ext uri="{FF2B5EF4-FFF2-40B4-BE49-F238E27FC236}">
                <a16:creationId xmlns:a16="http://schemas.microsoft.com/office/drawing/2014/main" id="{E2615F7A-31E4-1D96-2CED-785EB3875D34}"/>
              </a:ext>
            </a:extLst>
          </p:cNvPr>
          <p:cNvSpPr/>
          <p:nvPr/>
        </p:nvSpPr>
        <p:spPr>
          <a:xfrm>
            <a:off x="4413009" y="2271776"/>
            <a:ext cx="61722" cy="1110996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17" name="Shape 61">
            <a:extLst>
              <a:ext uri="{FF2B5EF4-FFF2-40B4-BE49-F238E27FC236}">
                <a16:creationId xmlns:a16="http://schemas.microsoft.com/office/drawing/2014/main" id="{40088830-62DB-B5FC-CAC4-4B9EA72D19D9}"/>
              </a:ext>
            </a:extLst>
          </p:cNvPr>
          <p:cNvSpPr/>
          <p:nvPr/>
        </p:nvSpPr>
        <p:spPr>
          <a:xfrm>
            <a:off x="4474731" y="2271776"/>
            <a:ext cx="2715768" cy="288036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18" name="Text 62">
            <a:extLst>
              <a:ext uri="{FF2B5EF4-FFF2-40B4-BE49-F238E27FC236}">
                <a16:creationId xmlns:a16="http://schemas.microsoft.com/office/drawing/2014/main" id="{52F972E0-DF8B-80DB-F07E-51A0DBEF9CD7}"/>
              </a:ext>
            </a:extLst>
          </p:cNvPr>
          <p:cNvSpPr/>
          <p:nvPr/>
        </p:nvSpPr>
        <p:spPr>
          <a:xfrm>
            <a:off x="4550169" y="2271776"/>
            <a:ext cx="377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19" name="Text 63">
            <a:extLst>
              <a:ext uri="{FF2B5EF4-FFF2-40B4-BE49-F238E27FC236}">
                <a16:creationId xmlns:a16="http://schemas.microsoft.com/office/drawing/2014/main" id="{36EA8DB0-7A7C-1415-89A8-49AA66B7E4D7}"/>
              </a:ext>
            </a:extLst>
          </p:cNvPr>
          <p:cNvSpPr/>
          <p:nvPr/>
        </p:nvSpPr>
        <p:spPr>
          <a:xfrm>
            <a:off x="4995939" y="2271776"/>
            <a:ext cx="21259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Commercial Viability</a:t>
            </a:r>
            <a:endParaRPr lang="en-US" sz="1000" dirty="0"/>
          </a:p>
        </p:txBody>
      </p:sp>
      <p:sp>
        <p:nvSpPr>
          <p:cNvPr id="120" name="Text 64">
            <a:extLst>
              <a:ext uri="{FF2B5EF4-FFF2-40B4-BE49-F238E27FC236}">
                <a16:creationId xmlns:a16="http://schemas.microsoft.com/office/drawing/2014/main" id="{43F35902-FF1F-4022-EC81-A05EB0D48CE2}"/>
              </a:ext>
            </a:extLst>
          </p:cNvPr>
          <p:cNvSpPr/>
          <p:nvPr/>
        </p:nvSpPr>
        <p:spPr>
          <a:xfrm>
            <a:off x="4550169" y="2614676"/>
            <a:ext cx="25717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b="1" i="1" dirty="0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Does the price work for the customer AND deliver DEL's hurdle return?</a:t>
            </a:r>
            <a:endParaRPr lang="en-US" sz="750" dirty="0"/>
          </a:p>
        </p:txBody>
      </p:sp>
      <p:sp>
        <p:nvSpPr>
          <p:cNvPr id="121" name="Text 65">
            <a:extLst>
              <a:ext uri="{FF2B5EF4-FFF2-40B4-BE49-F238E27FC236}">
                <a16:creationId xmlns:a16="http://schemas.microsoft.com/office/drawing/2014/main" id="{80AEBA36-3BA0-7B4E-828F-DF05D8813C7C}"/>
              </a:ext>
            </a:extLst>
          </p:cNvPr>
          <p:cNvSpPr/>
          <p:nvPr/>
        </p:nvSpPr>
        <p:spPr>
          <a:xfrm>
            <a:off x="4550169" y="2875280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b="1" dirty="0">
                <a:solidFill>
                  <a:srgbClr val="1F5130"/>
                </a:solidFill>
              </a:rPr>
              <a:t>PASS IF: </a:t>
            </a:r>
            <a:r>
              <a:rPr lang="en-US" sz="713" dirty="0">
                <a:solidFill>
                  <a:srgbClr val="2A2F2C"/>
                </a:solidFill>
              </a:rPr>
              <a:t>Tariff at least 10% below customer's alternative (diesel) AND project IRR meets DEL hurdle in base case.</a:t>
            </a:r>
            <a:endParaRPr lang="en-US" sz="713" dirty="0"/>
          </a:p>
        </p:txBody>
      </p:sp>
      <p:sp>
        <p:nvSpPr>
          <p:cNvPr id="122" name="Text 66">
            <a:extLst>
              <a:ext uri="{FF2B5EF4-FFF2-40B4-BE49-F238E27FC236}">
                <a16:creationId xmlns:a16="http://schemas.microsoft.com/office/drawing/2014/main" id="{70F6F7B9-5CD2-647F-2EFE-D22E05343A57}"/>
              </a:ext>
            </a:extLst>
          </p:cNvPr>
          <p:cNvSpPr/>
          <p:nvPr/>
        </p:nvSpPr>
        <p:spPr>
          <a:xfrm>
            <a:off x="4550169" y="3163316"/>
            <a:ext cx="25717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b="1" kern="0" spc="75" dirty="0">
                <a:solidFill>
                  <a:srgbClr val="C79A2E"/>
                </a:solidFill>
              </a:rPr>
              <a:t>EVIDENCE:  </a:t>
            </a:r>
            <a:r>
              <a:rPr lang="en-US" sz="638" i="1" dirty="0">
                <a:solidFill>
                  <a:srgbClr val="6B7570"/>
                </a:solidFill>
              </a:rPr>
              <a:t>Tariff model · alt-cost benchmark · IRR model</a:t>
            </a:r>
            <a:endParaRPr lang="en-US" sz="638" dirty="0"/>
          </a:p>
        </p:txBody>
      </p:sp>
      <p:sp>
        <p:nvSpPr>
          <p:cNvPr id="131" name="Shape 75">
            <a:extLst>
              <a:ext uri="{FF2B5EF4-FFF2-40B4-BE49-F238E27FC236}">
                <a16:creationId xmlns:a16="http://schemas.microsoft.com/office/drawing/2014/main" id="{FC6B500D-3D75-21E4-6402-CDF3ED7470D5}"/>
              </a:ext>
            </a:extLst>
          </p:cNvPr>
          <p:cNvSpPr/>
          <p:nvPr/>
        </p:nvSpPr>
        <p:spPr>
          <a:xfrm>
            <a:off x="4400436" y="3465068"/>
            <a:ext cx="2777490" cy="11109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32" name="Shape 76">
            <a:extLst>
              <a:ext uri="{FF2B5EF4-FFF2-40B4-BE49-F238E27FC236}">
                <a16:creationId xmlns:a16="http://schemas.microsoft.com/office/drawing/2014/main" id="{D69B2EC9-C799-F40D-7B98-F11FD4F0D2B7}"/>
              </a:ext>
            </a:extLst>
          </p:cNvPr>
          <p:cNvSpPr/>
          <p:nvPr/>
        </p:nvSpPr>
        <p:spPr>
          <a:xfrm>
            <a:off x="4400436" y="3465068"/>
            <a:ext cx="61722" cy="1110996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33" name="Shape 77">
            <a:extLst>
              <a:ext uri="{FF2B5EF4-FFF2-40B4-BE49-F238E27FC236}">
                <a16:creationId xmlns:a16="http://schemas.microsoft.com/office/drawing/2014/main" id="{59DE4AD0-A371-4C9F-A7EA-E561F0AF40CA}"/>
              </a:ext>
            </a:extLst>
          </p:cNvPr>
          <p:cNvSpPr/>
          <p:nvPr/>
        </p:nvSpPr>
        <p:spPr>
          <a:xfrm>
            <a:off x="4462158" y="3465068"/>
            <a:ext cx="2715768" cy="288036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34" name="Text 78">
            <a:extLst>
              <a:ext uri="{FF2B5EF4-FFF2-40B4-BE49-F238E27FC236}">
                <a16:creationId xmlns:a16="http://schemas.microsoft.com/office/drawing/2014/main" id="{18821819-6B8C-57A1-6DB1-EB57CAFEF4EE}"/>
              </a:ext>
            </a:extLst>
          </p:cNvPr>
          <p:cNvSpPr/>
          <p:nvPr/>
        </p:nvSpPr>
        <p:spPr>
          <a:xfrm>
            <a:off x="4537596" y="3465068"/>
            <a:ext cx="377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35" name="Text 79">
            <a:extLst>
              <a:ext uri="{FF2B5EF4-FFF2-40B4-BE49-F238E27FC236}">
                <a16:creationId xmlns:a16="http://schemas.microsoft.com/office/drawing/2014/main" id="{CB6806E1-CE5D-27AB-9391-F5114D2312A8}"/>
              </a:ext>
            </a:extLst>
          </p:cNvPr>
          <p:cNvSpPr/>
          <p:nvPr/>
        </p:nvSpPr>
        <p:spPr>
          <a:xfrm>
            <a:off x="4983366" y="3465068"/>
            <a:ext cx="21259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1000" dirty="0"/>
          </a:p>
        </p:txBody>
      </p:sp>
      <p:sp>
        <p:nvSpPr>
          <p:cNvPr id="136" name="Text 80">
            <a:extLst>
              <a:ext uri="{FF2B5EF4-FFF2-40B4-BE49-F238E27FC236}">
                <a16:creationId xmlns:a16="http://schemas.microsoft.com/office/drawing/2014/main" id="{7D5B27BC-B902-45F7-D86F-89B99455CB9A}"/>
              </a:ext>
            </a:extLst>
          </p:cNvPr>
          <p:cNvSpPr/>
          <p:nvPr/>
        </p:nvSpPr>
        <p:spPr>
          <a:xfrm>
            <a:off x="4537596" y="3807968"/>
            <a:ext cx="25717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b="1" i="1" dirty="0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Does this deal fit DEL's mandate, geography, and platform thesis?</a:t>
            </a:r>
            <a:endParaRPr lang="en-US" sz="750" dirty="0"/>
          </a:p>
        </p:txBody>
      </p:sp>
      <p:sp>
        <p:nvSpPr>
          <p:cNvPr id="137" name="Text 81">
            <a:extLst>
              <a:ext uri="{FF2B5EF4-FFF2-40B4-BE49-F238E27FC236}">
                <a16:creationId xmlns:a16="http://schemas.microsoft.com/office/drawing/2014/main" id="{653603BC-1314-CDBB-C7CA-2F7C14122E90}"/>
              </a:ext>
            </a:extLst>
          </p:cNvPr>
          <p:cNvSpPr/>
          <p:nvPr/>
        </p:nvSpPr>
        <p:spPr>
          <a:xfrm>
            <a:off x="4537596" y="406857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b="1" dirty="0">
                <a:solidFill>
                  <a:srgbClr val="1F5130"/>
                </a:solidFill>
              </a:rPr>
              <a:t>PASS IF: </a:t>
            </a:r>
            <a:r>
              <a:rPr lang="en-US" sz="713" dirty="0">
                <a:solidFill>
                  <a:srgbClr val="2A2F2C"/>
                </a:solidFill>
              </a:rPr>
              <a:t>Within gas/power/adjacent infrastructure; Nigeria or West Africa footprint; demonstrably builds the DEL platform.</a:t>
            </a:r>
            <a:endParaRPr lang="en-US" sz="713" dirty="0"/>
          </a:p>
        </p:txBody>
      </p:sp>
      <p:sp>
        <p:nvSpPr>
          <p:cNvPr id="138" name="Text 82">
            <a:extLst>
              <a:ext uri="{FF2B5EF4-FFF2-40B4-BE49-F238E27FC236}">
                <a16:creationId xmlns:a16="http://schemas.microsoft.com/office/drawing/2014/main" id="{3BE233ED-F9F4-37D5-4E1E-C7E0F5FFA0B9}"/>
              </a:ext>
            </a:extLst>
          </p:cNvPr>
          <p:cNvSpPr/>
          <p:nvPr/>
        </p:nvSpPr>
        <p:spPr>
          <a:xfrm>
            <a:off x="4537596" y="4356608"/>
            <a:ext cx="25717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b="1" kern="0" spc="75" dirty="0">
                <a:solidFill>
                  <a:srgbClr val="C79A2E"/>
                </a:solidFill>
              </a:rPr>
              <a:t>EVIDENCE:  </a:t>
            </a:r>
            <a:r>
              <a:rPr lang="en-US" sz="638" i="1" dirty="0">
                <a:solidFill>
                  <a:srgbClr val="6B7570"/>
                </a:solidFill>
              </a:rPr>
              <a:t>Strategy fit memo · portfolio map</a:t>
            </a:r>
            <a:endParaRPr lang="en-US" sz="638" dirty="0"/>
          </a:p>
        </p:txBody>
      </p:sp>
      <p:sp>
        <p:nvSpPr>
          <p:cNvPr id="139" name="Shape 83">
            <a:extLst>
              <a:ext uri="{FF2B5EF4-FFF2-40B4-BE49-F238E27FC236}">
                <a16:creationId xmlns:a16="http://schemas.microsoft.com/office/drawing/2014/main" id="{33A02797-1ACC-45DB-D7C0-EE70568FF11A}"/>
              </a:ext>
            </a:extLst>
          </p:cNvPr>
          <p:cNvSpPr/>
          <p:nvPr/>
        </p:nvSpPr>
        <p:spPr>
          <a:xfrm>
            <a:off x="342900" y="4697730"/>
            <a:ext cx="8455914" cy="260604"/>
          </a:xfrm>
          <a:prstGeom prst="rect">
            <a:avLst/>
          </a:prstGeom>
          <a:solidFill>
            <a:srgbClr val="FFFFCC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40" name="Text 84">
            <a:extLst>
              <a:ext uri="{FF2B5EF4-FFF2-40B4-BE49-F238E27FC236}">
                <a16:creationId xmlns:a16="http://schemas.microsoft.com/office/drawing/2014/main" id="{8B3A545F-DCC5-43CF-1FD0-947D617A7F1A}"/>
              </a:ext>
            </a:extLst>
          </p:cNvPr>
          <p:cNvSpPr/>
          <p:nvPr/>
        </p:nvSpPr>
        <p:spPr>
          <a:xfrm>
            <a:off x="342900" y="4697730"/>
            <a:ext cx="845591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/>
              <a:t>If all five gates pass, proceed to 5-pillar scoring; if any gate fails, automatically decline and log the deal.</a:t>
            </a:r>
            <a:endParaRPr lang="en-US" sz="825" dirty="0"/>
          </a:p>
        </p:txBody>
      </p:sp>
    </p:spTree>
    <p:extLst>
      <p:ext uri="{BB962C8B-B14F-4D97-AF65-F5344CB8AC3E}">
        <p14:creationId xmlns:p14="http://schemas.microsoft.com/office/powerpoint/2010/main" val="1955363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490F-CFF1-F1A5-6F1E-78292A03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CA72CDE-2683-3C98-A4B6-BED6FC29AB85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>
                <a:solidFill>
                  <a:srgbClr val="0A2F6F"/>
                </a:solidFill>
                <a:ea typeface="Calibri"/>
                <a:cs typeface="Calibri"/>
              </a:rPr>
              <a:t>THE FIVE </a:t>
            </a:r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PILLARS — WEIGHTINGS AND SCORING MECHANICS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1B352D6C-C394-D6D6-0C1A-BB6C3A20265B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AE25AD4C-609A-86F8-CA4E-2EE9498FE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0E22E6E6-58BB-B503-2CF4-BD8A78402D41}"/>
              </a:ext>
            </a:extLst>
          </p:cNvPr>
          <p:cNvSpPr/>
          <p:nvPr/>
        </p:nvSpPr>
        <p:spPr>
          <a:xfrm>
            <a:off x="331470" y="659003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kern="0" spc="225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WEIGHTINGS</a:t>
            </a:r>
            <a:endParaRPr lang="en-US" sz="10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4C29975B-9BDB-847C-A739-E480DE9D8132}"/>
              </a:ext>
            </a:extLst>
          </p:cNvPr>
          <p:cNvSpPr/>
          <p:nvPr/>
        </p:nvSpPr>
        <p:spPr>
          <a:xfrm>
            <a:off x="342900" y="1131570"/>
            <a:ext cx="377190" cy="425196"/>
          </a:xfrm>
          <a:prstGeom prst="rect">
            <a:avLst/>
          </a:prstGeom>
          <a:solidFill>
            <a:srgbClr val="1F513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B0828CB-CC25-45B2-8605-69A5C73A1E38}"/>
              </a:ext>
            </a:extLst>
          </p:cNvPr>
          <p:cNvSpPr/>
          <p:nvPr/>
        </p:nvSpPr>
        <p:spPr>
          <a:xfrm>
            <a:off x="342900" y="1131570"/>
            <a:ext cx="37719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5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470D0D8-59DB-8AFD-5A81-77CBE22ED29B}"/>
              </a:ext>
            </a:extLst>
          </p:cNvPr>
          <p:cNvSpPr/>
          <p:nvPr/>
        </p:nvSpPr>
        <p:spPr>
          <a:xfrm>
            <a:off x="788670" y="1159002"/>
            <a:ext cx="22631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43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Viability</a:t>
            </a:r>
            <a:endParaRPr lang="en-US" sz="9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21AE2BDE-54B3-CFA8-99E5-48F1D1B22536}"/>
              </a:ext>
            </a:extLst>
          </p:cNvPr>
          <p:cNvSpPr/>
          <p:nvPr/>
        </p:nvSpPr>
        <p:spPr>
          <a:xfrm>
            <a:off x="788670" y="1337310"/>
            <a:ext cx="2263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reality, tariff, contract</a:t>
            </a:r>
            <a:endParaRPr lang="en-US" sz="713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E6A4330F-ABF3-B86E-DB69-6286998ADFE8}"/>
              </a:ext>
            </a:extLst>
          </p:cNvPr>
          <p:cNvSpPr/>
          <p:nvPr/>
        </p:nvSpPr>
        <p:spPr>
          <a:xfrm>
            <a:off x="3086100" y="1234440"/>
            <a:ext cx="2743200" cy="219456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612174EA-B44B-9B69-4F7B-7C7CA6FE77A2}"/>
              </a:ext>
            </a:extLst>
          </p:cNvPr>
          <p:cNvSpPr/>
          <p:nvPr/>
        </p:nvSpPr>
        <p:spPr>
          <a:xfrm>
            <a:off x="3086100" y="1234440"/>
            <a:ext cx="2743200" cy="219456"/>
          </a:xfrm>
          <a:prstGeom prst="rect">
            <a:avLst/>
          </a:prstGeom>
          <a:solidFill>
            <a:srgbClr val="1F513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617F3D3C-57E9-0ECF-3B53-9E658A80AD2C}"/>
              </a:ext>
            </a:extLst>
          </p:cNvPr>
          <p:cNvSpPr/>
          <p:nvPr/>
        </p:nvSpPr>
        <p:spPr>
          <a:xfrm>
            <a:off x="5897880" y="1131570"/>
            <a:ext cx="6172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F5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5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E1474AA-85FD-1C5F-CE59-2DAD56B8A4BE}"/>
              </a:ext>
            </a:extLst>
          </p:cNvPr>
          <p:cNvSpPr/>
          <p:nvPr/>
        </p:nvSpPr>
        <p:spPr>
          <a:xfrm>
            <a:off x="342900" y="1680210"/>
            <a:ext cx="377190" cy="425196"/>
          </a:xfrm>
          <a:prstGeom prst="rect">
            <a:avLst/>
          </a:prstGeom>
          <a:solidFill>
            <a:srgbClr val="5E8B5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31F0FFE1-9FC3-1FDC-8D74-C1BAAAB6B39B}"/>
              </a:ext>
            </a:extLst>
          </p:cNvPr>
          <p:cNvSpPr/>
          <p:nvPr/>
        </p:nvSpPr>
        <p:spPr>
          <a:xfrm>
            <a:off x="342900" y="1680210"/>
            <a:ext cx="37719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5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F2D5A30A-48D1-D225-6CE2-8880E0E20A34}"/>
              </a:ext>
            </a:extLst>
          </p:cNvPr>
          <p:cNvSpPr/>
          <p:nvPr/>
        </p:nvSpPr>
        <p:spPr>
          <a:xfrm>
            <a:off x="788670" y="1707642"/>
            <a:ext cx="22631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43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Operational</a:t>
            </a:r>
            <a:endParaRPr lang="en-US" sz="9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9A683D5B-0ACE-183A-96F1-DCFB8ADAA698}"/>
              </a:ext>
            </a:extLst>
          </p:cNvPr>
          <p:cNvSpPr/>
          <p:nvPr/>
        </p:nvSpPr>
        <p:spPr>
          <a:xfrm>
            <a:off x="788670" y="1885950"/>
            <a:ext cx="2263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and run it?</a:t>
            </a:r>
            <a:endParaRPr lang="en-US" sz="713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36767BB-E339-D6A4-0B8F-F869900045B7}"/>
              </a:ext>
            </a:extLst>
          </p:cNvPr>
          <p:cNvSpPr/>
          <p:nvPr/>
        </p:nvSpPr>
        <p:spPr>
          <a:xfrm>
            <a:off x="3086100" y="1783080"/>
            <a:ext cx="2743200" cy="219456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3121E89-C068-7BB9-55CF-E20EAB1B1064}"/>
              </a:ext>
            </a:extLst>
          </p:cNvPr>
          <p:cNvSpPr/>
          <p:nvPr/>
        </p:nvSpPr>
        <p:spPr>
          <a:xfrm>
            <a:off x="3086100" y="1783080"/>
            <a:ext cx="2743200" cy="219456"/>
          </a:xfrm>
          <a:prstGeom prst="rect">
            <a:avLst/>
          </a:prstGeom>
          <a:solidFill>
            <a:srgbClr val="5E8B5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F2DF40F4-3B19-79AE-4804-953435A726B7}"/>
              </a:ext>
            </a:extLst>
          </p:cNvPr>
          <p:cNvSpPr/>
          <p:nvPr/>
        </p:nvSpPr>
        <p:spPr>
          <a:xfrm>
            <a:off x="5897880" y="1680210"/>
            <a:ext cx="6172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5E8B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5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8920541F-9D6C-992C-071C-3E25DE9CF155}"/>
              </a:ext>
            </a:extLst>
          </p:cNvPr>
          <p:cNvSpPr/>
          <p:nvPr/>
        </p:nvSpPr>
        <p:spPr>
          <a:xfrm>
            <a:off x="342900" y="2228850"/>
            <a:ext cx="377190" cy="425196"/>
          </a:xfrm>
          <a:prstGeom prst="rect">
            <a:avLst/>
          </a:prstGeom>
          <a:solidFill>
            <a:srgbClr val="B1322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B87593DF-A103-F8CA-516A-1E14953908B9}"/>
              </a:ext>
            </a:extLst>
          </p:cNvPr>
          <p:cNvSpPr/>
          <p:nvPr/>
        </p:nvSpPr>
        <p:spPr>
          <a:xfrm>
            <a:off x="342900" y="2228850"/>
            <a:ext cx="37719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5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F9659242-D584-8BA9-3397-F43811097E5E}"/>
              </a:ext>
            </a:extLst>
          </p:cNvPr>
          <p:cNvSpPr/>
          <p:nvPr/>
        </p:nvSpPr>
        <p:spPr>
          <a:xfrm>
            <a:off x="788670" y="2256282"/>
            <a:ext cx="22631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43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Regulatory</a:t>
            </a:r>
            <a:endParaRPr lang="en-US" sz="9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A4913545-9DE7-F70B-F302-E614A71C2607}"/>
              </a:ext>
            </a:extLst>
          </p:cNvPr>
          <p:cNvSpPr/>
          <p:nvPr/>
        </p:nvSpPr>
        <p:spPr>
          <a:xfrm>
            <a:off x="788670" y="2434590"/>
            <a:ext cx="2263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stop or stall us?</a:t>
            </a:r>
            <a:endParaRPr lang="en-US" sz="713" dirty="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BD34C6C-1CB4-AEB7-2A3A-1FC838580D75}"/>
              </a:ext>
            </a:extLst>
          </p:cNvPr>
          <p:cNvSpPr/>
          <p:nvPr/>
        </p:nvSpPr>
        <p:spPr>
          <a:xfrm>
            <a:off x="3086100" y="2331720"/>
            <a:ext cx="2743200" cy="219456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06A800CD-6379-718D-8185-D85D6231B091}"/>
              </a:ext>
            </a:extLst>
          </p:cNvPr>
          <p:cNvSpPr/>
          <p:nvPr/>
        </p:nvSpPr>
        <p:spPr>
          <a:xfrm>
            <a:off x="3086100" y="2331720"/>
            <a:ext cx="1645920" cy="219456"/>
          </a:xfrm>
          <a:prstGeom prst="rect">
            <a:avLst/>
          </a:prstGeom>
          <a:solidFill>
            <a:srgbClr val="B1322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FD127202-8939-EEBD-2B32-C19E26DC8481}"/>
              </a:ext>
            </a:extLst>
          </p:cNvPr>
          <p:cNvSpPr/>
          <p:nvPr/>
        </p:nvSpPr>
        <p:spPr>
          <a:xfrm>
            <a:off x="5897880" y="2228850"/>
            <a:ext cx="6172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B1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50" dirty="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640CA66A-0F0A-C77E-6926-A5A8EDDB7895}"/>
              </a:ext>
            </a:extLst>
          </p:cNvPr>
          <p:cNvSpPr/>
          <p:nvPr/>
        </p:nvSpPr>
        <p:spPr>
          <a:xfrm>
            <a:off x="342900" y="2778125"/>
            <a:ext cx="377190" cy="425196"/>
          </a:xfrm>
          <a:prstGeom prst="rect">
            <a:avLst/>
          </a:prstGeom>
          <a:solidFill>
            <a:srgbClr val="C78B1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4EDF2B32-61AA-38AB-52D0-692BD35D69EE}"/>
              </a:ext>
            </a:extLst>
          </p:cNvPr>
          <p:cNvSpPr/>
          <p:nvPr/>
        </p:nvSpPr>
        <p:spPr>
          <a:xfrm>
            <a:off x="342900" y="2778125"/>
            <a:ext cx="37719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Georgia" pitchFamily="34" charset="0"/>
              </a:rPr>
              <a:t>D</a:t>
            </a:r>
            <a:endParaRPr lang="en-US" sz="165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4161BC45-400F-F988-EF60-14E9806803F4}"/>
              </a:ext>
            </a:extLst>
          </p:cNvPr>
          <p:cNvSpPr/>
          <p:nvPr/>
        </p:nvSpPr>
        <p:spPr>
          <a:xfrm>
            <a:off x="788670" y="2805557"/>
            <a:ext cx="22631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43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Attractiveness</a:t>
            </a:r>
            <a:endParaRPr lang="en-US" sz="900" dirty="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E7B84771-8938-2E68-3A72-6BA8BC1FA754}"/>
              </a:ext>
            </a:extLst>
          </p:cNvPr>
          <p:cNvSpPr/>
          <p:nvPr/>
        </p:nvSpPr>
        <p:spPr>
          <a:xfrm>
            <a:off x="788670" y="2983865"/>
            <a:ext cx="2263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vs hurdle, under stress</a:t>
            </a:r>
            <a:endParaRPr lang="en-US" sz="713" dirty="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4ACA8E12-7D09-9291-18FE-848AB11570ED}"/>
              </a:ext>
            </a:extLst>
          </p:cNvPr>
          <p:cNvSpPr/>
          <p:nvPr/>
        </p:nvSpPr>
        <p:spPr>
          <a:xfrm>
            <a:off x="3086100" y="2880995"/>
            <a:ext cx="2743200" cy="219456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466B063B-309F-5DBB-2EB7-7A04CB94100F}"/>
              </a:ext>
            </a:extLst>
          </p:cNvPr>
          <p:cNvSpPr/>
          <p:nvPr/>
        </p:nvSpPr>
        <p:spPr>
          <a:xfrm>
            <a:off x="3086100" y="2880995"/>
            <a:ext cx="1097280" cy="219456"/>
          </a:xfrm>
          <a:prstGeom prst="rect">
            <a:avLst/>
          </a:prstGeom>
          <a:solidFill>
            <a:srgbClr val="C78B1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070B65DF-6CE6-D574-F905-0CF528443A71}"/>
              </a:ext>
            </a:extLst>
          </p:cNvPr>
          <p:cNvSpPr/>
          <p:nvPr/>
        </p:nvSpPr>
        <p:spPr>
          <a:xfrm>
            <a:off x="5897880" y="2778125"/>
            <a:ext cx="6172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C78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3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78C568CC-BCEC-CA39-9E7E-CCF2B0D40B5C}"/>
              </a:ext>
            </a:extLst>
          </p:cNvPr>
          <p:cNvSpPr/>
          <p:nvPr/>
        </p:nvSpPr>
        <p:spPr>
          <a:xfrm>
            <a:off x="342900" y="3326765"/>
            <a:ext cx="377190" cy="425196"/>
          </a:xfrm>
          <a:prstGeom prst="rect">
            <a:avLst/>
          </a:prstGeom>
          <a:solidFill>
            <a:srgbClr val="1B2F3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2" name="Text 42">
            <a:extLst>
              <a:ext uri="{FF2B5EF4-FFF2-40B4-BE49-F238E27FC236}">
                <a16:creationId xmlns:a16="http://schemas.microsoft.com/office/drawing/2014/main" id="{04535C53-6B19-93CB-08F5-4C2D386055F6}"/>
              </a:ext>
            </a:extLst>
          </p:cNvPr>
          <p:cNvSpPr/>
          <p:nvPr/>
        </p:nvSpPr>
        <p:spPr>
          <a:xfrm>
            <a:off x="342900" y="3326765"/>
            <a:ext cx="37719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Georgia" pitchFamily="34" charset="0"/>
              </a:rPr>
              <a:t>E</a:t>
            </a:r>
            <a:endParaRPr lang="en-US" sz="1650" dirty="0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D49626FF-1D1D-E1A7-4683-EE515571CA73}"/>
              </a:ext>
            </a:extLst>
          </p:cNvPr>
          <p:cNvSpPr/>
          <p:nvPr/>
        </p:nvSpPr>
        <p:spPr>
          <a:xfrm>
            <a:off x="788670" y="3354197"/>
            <a:ext cx="22631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43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Fund</a:t>
            </a:r>
            <a:endParaRPr lang="en-US" sz="900" dirty="0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8CA25582-E5CF-089B-5266-7A5A566F3A6C}"/>
              </a:ext>
            </a:extLst>
          </p:cNvPr>
          <p:cNvSpPr/>
          <p:nvPr/>
        </p:nvSpPr>
        <p:spPr>
          <a:xfrm>
            <a:off x="788670" y="3532505"/>
            <a:ext cx="2263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Equity, debt, bankability</a:t>
            </a:r>
            <a:endParaRPr lang="en-US" sz="713" dirty="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E4D7282E-9D60-EA0E-34B8-F5A2E0B797F8}"/>
              </a:ext>
            </a:extLst>
          </p:cNvPr>
          <p:cNvSpPr/>
          <p:nvPr/>
        </p:nvSpPr>
        <p:spPr>
          <a:xfrm>
            <a:off x="3086100" y="3429635"/>
            <a:ext cx="2743200" cy="219456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41709D2F-3362-A614-6DD1-FA3D57B1AB16}"/>
              </a:ext>
            </a:extLst>
          </p:cNvPr>
          <p:cNvSpPr/>
          <p:nvPr/>
        </p:nvSpPr>
        <p:spPr>
          <a:xfrm>
            <a:off x="3086100" y="3429635"/>
            <a:ext cx="1097280" cy="219456"/>
          </a:xfrm>
          <a:prstGeom prst="rect">
            <a:avLst/>
          </a:prstGeom>
          <a:solidFill>
            <a:srgbClr val="1B2F3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59173946-DFEA-43A4-00BA-7BEE27A0CCD0}"/>
              </a:ext>
            </a:extLst>
          </p:cNvPr>
          <p:cNvSpPr/>
          <p:nvPr/>
        </p:nvSpPr>
        <p:spPr>
          <a:xfrm>
            <a:off x="5897880" y="3326765"/>
            <a:ext cx="6172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B2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350" dirty="0"/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ED7AE31B-7F95-A885-DE31-3B0585C0A4ED}"/>
              </a:ext>
            </a:extLst>
          </p:cNvPr>
          <p:cNvSpPr/>
          <p:nvPr/>
        </p:nvSpPr>
        <p:spPr>
          <a:xfrm>
            <a:off x="6926580" y="761873"/>
            <a:ext cx="1885950" cy="3538093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50" dirty="0"/>
          </a:p>
        </p:txBody>
      </p:sp>
      <p:sp>
        <p:nvSpPr>
          <p:cNvPr id="49" name="Text 49">
            <a:extLst>
              <a:ext uri="{FF2B5EF4-FFF2-40B4-BE49-F238E27FC236}">
                <a16:creationId xmlns:a16="http://schemas.microsoft.com/office/drawing/2014/main" id="{30475156-72AF-8F0D-131D-C240479FC554}"/>
              </a:ext>
            </a:extLst>
          </p:cNvPr>
          <p:cNvSpPr/>
          <p:nvPr/>
        </p:nvSpPr>
        <p:spPr>
          <a:xfrm>
            <a:off x="7063740" y="864743"/>
            <a:ext cx="16116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15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METHODOLOGY</a:t>
            </a:r>
            <a:endParaRPr lang="en-US" sz="675" dirty="0"/>
          </a:p>
        </p:txBody>
      </p:sp>
      <p:sp>
        <p:nvSpPr>
          <p:cNvPr id="50" name="Text 50">
            <a:extLst>
              <a:ext uri="{FF2B5EF4-FFF2-40B4-BE49-F238E27FC236}">
                <a16:creationId xmlns:a16="http://schemas.microsoft.com/office/drawing/2014/main" id="{CCE2D282-F164-D907-56B3-3E7B8F84F301}"/>
              </a:ext>
            </a:extLst>
          </p:cNvPr>
          <p:cNvSpPr/>
          <p:nvPr/>
        </p:nvSpPr>
        <p:spPr>
          <a:xfrm>
            <a:off x="7063740" y="1049909"/>
            <a:ext cx="1611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1–5 Scale</a:t>
            </a:r>
            <a:endParaRPr lang="en-US" sz="1350" dirty="0"/>
          </a:p>
        </p:txBody>
      </p:sp>
      <p:sp>
        <p:nvSpPr>
          <p:cNvPr id="51" name="Shape 51">
            <a:extLst>
              <a:ext uri="{FF2B5EF4-FFF2-40B4-BE49-F238E27FC236}">
                <a16:creationId xmlns:a16="http://schemas.microsoft.com/office/drawing/2014/main" id="{777BA0C9-60D0-114B-78F4-69041D2D8C4E}"/>
              </a:ext>
            </a:extLst>
          </p:cNvPr>
          <p:cNvSpPr/>
          <p:nvPr/>
        </p:nvSpPr>
        <p:spPr>
          <a:xfrm>
            <a:off x="7063740" y="1413383"/>
            <a:ext cx="329184" cy="356616"/>
          </a:xfrm>
          <a:prstGeom prst="rect">
            <a:avLst/>
          </a:prstGeom>
          <a:solidFill>
            <a:srgbClr val="2C8145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52" name="Text 52">
            <a:extLst>
              <a:ext uri="{FF2B5EF4-FFF2-40B4-BE49-F238E27FC236}">
                <a16:creationId xmlns:a16="http://schemas.microsoft.com/office/drawing/2014/main" id="{641198BE-4BEB-1D9E-B811-5A2349100FD7}"/>
              </a:ext>
            </a:extLst>
          </p:cNvPr>
          <p:cNvSpPr/>
          <p:nvPr/>
        </p:nvSpPr>
        <p:spPr>
          <a:xfrm>
            <a:off x="7063740" y="1413383"/>
            <a:ext cx="329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53" name="Text 53">
            <a:extLst>
              <a:ext uri="{FF2B5EF4-FFF2-40B4-BE49-F238E27FC236}">
                <a16:creationId xmlns:a16="http://schemas.microsoft.com/office/drawing/2014/main" id="{E7B4EDF2-5934-4B29-C9E0-45E8A39872CA}"/>
              </a:ext>
            </a:extLst>
          </p:cNvPr>
          <p:cNvSpPr/>
          <p:nvPr/>
        </p:nvSpPr>
        <p:spPr>
          <a:xfrm>
            <a:off x="7440930" y="1427099"/>
            <a:ext cx="13030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750" dirty="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A3AF64FB-6539-89FE-2860-4E67EFDC41C0}"/>
              </a:ext>
            </a:extLst>
          </p:cNvPr>
          <p:cNvSpPr/>
          <p:nvPr/>
        </p:nvSpPr>
        <p:spPr>
          <a:xfrm>
            <a:off x="7440930" y="1577975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i="1" dirty="0">
                <a:solidFill>
                  <a:srgbClr val="E9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de-risked</a:t>
            </a:r>
            <a:endParaRPr lang="en-US" sz="60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00FB5A41-716C-ACEE-455A-CFAE0D334803}"/>
              </a:ext>
            </a:extLst>
          </p:cNvPr>
          <p:cNvSpPr/>
          <p:nvPr/>
        </p:nvSpPr>
        <p:spPr>
          <a:xfrm>
            <a:off x="7063740" y="1804289"/>
            <a:ext cx="329184" cy="356616"/>
          </a:xfrm>
          <a:prstGeom prst="rect">
            <a:avLst/>
          </a:prstGeom>
          <a:solidFill>
            <a:srgbClr val="5E8B5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56" name="Text 56">
            <a:extLst>
              <a:ext uri="{FF2B5EF4-FFF2-40B4-BE49-F238E27FC236}">
                <a16:creationId xmlns:a16="http://schemas.microsoft.com/office/drawing/2014/main" id="{98C1C72A-790B-060D-F6B4-F0D66EF733BA}"/>
              </a:ext>
            </a:extLst>
          </p:cNvPr>
          <p:cNvSpPr/>
          <p:nvPr/>
        </p:nvSpPr>
        <p:spPr>
          <a:xfrm>
            <a:off x="7063740" y="1804289"/>
            <a:ext cx="329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57" name="Text 57">
            <a:extLst>
              <a:ext uri="{FF2B5EF4-FFF2-40B4-BE49-F238E27FC236}">
                <a16:creationId xmlns:a16="http://schemas.microsoft.com/office/drawing/2014/main" id="{DF40F194-A676-2757-9159-5CE25A11F348}"/>
              </a:ext>
            </a:extLst>
          </p:cNvPr>
          <p:cNvSpPr/>
          <p:nvPr/>
        </p:nvSpPr>
        <p:spPr>
          <a:xfrm>
            <a:off x="7440930" y="1818005"/>
            <a:ext cx="13030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750" dirty="0"/>
          </a:p>
        </p:txBody>
      </p:sp>
      <p:sp>
        <p:nvSpPr>
          <p:cNvPr id="58" name="Text 58">
            <a:extLst>
              <a:ext uri="{FF2B5EF4-FFF2-40B4-BE49-F238E27FC236}">
                <a16:creationId xmlns:a16="http://schemas.microsoft.com/office/drawing/2014/main" id="{A1D41E9B-B620-EE96-E1C9-73D7268CFE56}"/>
              </a:ext>
            </a:extLst>
          </p:cNvPr>
          <p:cNvSpPr/>
          <p:nvPr/>
        </p:nvSpPr>
        <p:spPr>
          <a:xfrm>
            <a:off x="7440930" y="1968881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i="1" dirty="0">
                <a:solidFill>
                  <a:srgbClr val="E9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position, minor concerns</a:t>
            </a:r>
            <a:endParaRPr lang="en-US" sz="600" dirty="0"/>
          </a:p>
        </p:txBody>
      </p:sp>
      <p:sp>
        <p:nvSpPr>
          <p:cNvPr id="59" name="Shape 59">
            <a:extLst>
              <a:ext uri="{FF2B5EF4-FFF2-40B4-BE49-F238E27FC236}">
                <a16:creationId xmlns:a16="http://schemas.microsoft.com/office/drawing/2014/main" id="{9AD111BE-3B4A-EE3F-4822-8065BE0E7DB0}"/>
              </a:ext>
            </a:extLst>
          </p:cNvPr>
          <p:cNvSpPr/>
          <p:nvPr/>
        </p:nvSpPr>
        <p:spPr>
          <a:xfrm>
            <a:off x="7063740" y="2195195"/>
            <a:ext cx="329184" cy="356616"/>
          </a:xfrm>
          <a:prstGeom prst="rect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0" name="Text 60">
            <a:extLst>
              <a:ext uri="{FF2B5EF4-FFF2-40B4-BE49-F238E27FC236}">
                <a16:creationId xmlns:a16="http://schemas.microsoft.com/office/drawing/2014/main" id="{BCC3267F-AE27-243F-17BA-B5EA4FC957C5}"/>
              </a:ext>
            </a:extLst>
          </p:cNvPr>
          <p:cNvSpPr/>
          <p:nvPr/>
        </p:nvSpPr>
        <p:spPr>
          <a:xfrm>
            <a:off x="7063740" y="2195195"/>
            <a:ext cx="329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61" name="Text 61">
            <a:extLst>
              <a:ext uri="{FF2B5EF4-FFF2-40B4-BE49-F238E27FC236}">
                <a16:creationId xmlns:a16="http://schemas.microsoft.com/office/drawing/2014/main" id="{49CE81EB-E4FB-591C-7833-0707B32AF6AD}"/>
              </a:ext>
            </a:extLst>
          </p:cNvPr>
          <p:cNvSpPr/>
          <p:nvPr/>
        </p:nvSpPr>
        <p:spPr>
          <a:xfrm>
            <a:off x="7440930" y="2208911"/>
            <a:ext cx="13030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750" dirty="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B5C996E5-BD64-F050-1A85-85611157AD32}"/>
              </a:ext>
            </a:extLst>
          </p:cNvPr>
          <p:cNvSpPr/>
          <p:nvPr/>
        </p:nvSpPr>
        <p:spPr>
          <a:xfrm>
            <a:off x="7440930" y="2359787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i="1" dirty="0">
                <a:solidFill>
                  <a:srgbClr val="E9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Acceptable, manageable gaps</a:t>
            </a:r>
            <a:endParaRPr lang="en-US" sz="600" dirty="0"/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D741D65A-7E42-B31D-F412-E9537ED20E41}"/>
              </a:ext>
            </a:extLst>
          </p:cNvPr>
          <p:cNvSpPr/>
          <p:nvPr/>
        </p:nvSpPr>
        <p:spPr>
          <a:xfrm>
            <a:off x="7063740" y="2586101"/>
            <a:ext cx="329184" cy="356616"/>
          </a:xfrm>
          <a:prstGeom prst="rect">
            <a:avLst/>
          </a:prstGeom>
          <a:solidFill>
            <a:srgbClr val="C0632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4" name="Text 64">
            <a:extLst>
              <a:ext uri="{FF2B5EF4-FFF2-40B4-BE49-F238E27FC236}">
                <a16:creationId xmlns:a16="http://schemas.microsoft.com/office/drawing/2014/main" id="{D0ECBB42-C387-76C9-AD4E-53A222249098}"/>
              </a:ext>
            </a:extLst>
          </p:cNvPr>
          <p:cNvSpPr/>
          <p:nvPr/>
        </p:nvSpPr>
        <p:spPr>
          <a:xfrm>
            <a:off x="7063740" y="2586101"/>
            <a:ext cx="329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65" name="Text 65">
            <a:extLst>
              <a:ext uri="{FF2B5EF4-FFF2-40B4-BE49-F238E27FC236}">
                <a16:creationId xmlns:a16="http://schemas.microsoft.com/office/drawing/2014/main" id="{9418D1B0-03EA-288A-611B-5C9B69353CF0}"/>
              </a:ext>
            </a:extLst>
          </p:cNvPr>
          <p:cNvSpPr/>
          <p:nvPr/>
        </p:nvSpPr>
        <p:spPr>
          <a:xfrm>
            <a:off x="7440930" y="2599817"/>
            <a:ext cx="13030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750" dirty="0"/>
          </a:p>
        </p:txBody>
      </p:sp>
      <p:sp>
        <p:nvSpPr>
          <p:cNvPr id="66" name="Text 66">
            <a:extLst>
              <a:ext uri="{FF2B5EF4-FFF2-40B4-BE49-F238E27FC236}">
                <a16:creationId xmlns:a16="http://schemas.microsoft.com/office/drawing/2014/main" id="{96FF38F1-B776-1D23-CC74-F9F44E5C3BEF}"/>
              </a:ext>
            </a:extLst>
          </p:cNvPr>
          <p:cNvSpPr/>
          <p:nvPr/>
        </p:nvSpPr>
        <p:spPr>
          <a:xfrm>
            <a:off x="7440930" y="2750693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i="1" dirty="0">
                <a:solidFill>
                  <a:srgbClr val="E9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concerns, needs fix</a:t>
            </a:r>
            <a:endParaRPr lang="en-US" sz="600" dirty="0"/>
          </a:p>
        </p:txBody>
      </p:sp>
      <p:sp>
        <p:nvSpPr>
          <p:cNvPr id="67" name="Shape 67">
            <a:extLst>
              <a:ext uri="{FF2B5EF4-FFF2-40B4-BE49-F238E27FC236}">
                <a16:creationId xmlns:a16="http://schemas.microsoft.com/office/drawing/2014/main" id="{0BC0899A-0860-E216-FA7B-9F8C25736F5E}"/>
              </a:ext>
            </a:extLst>
          </p:cNvPr>
          <p:cNvSpPr/>
          <p:nvPr/>
        </p:nvSpPr>
        <p:spPr>
          <a:xfrm>
            <a:off x="7063740" y="2977007"/>
            <a:ext cx="329184" cy="356616"/>
          </a:xfrm>
          <a:prstGeom prst="rect">
            <a:avLst/>
          </a:prstGeom>
          <a:solidFill>
            <a:srgbClr val="B1322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8" name="Text 68">
            <a:extLst>
              <a:ext uri="{FF2B5EF4-FFF2-40B4-BE49-F238E27FC236}">
                <a16:creationId xmlns:a16="http://schemas.microsoft.com/office/drawing/2014/main" id="{792EF5F9-2228-E73F-2535-1D1A3C18D4BF}"/>
              </a:ext>
            </a:extLst>
          </p:cNvPr>
          <p:cNvSpPr/>
          <p:nvPr/>
        </p:nvSpPr>
        <p:spPr>
          <a:xfrm>
            <a:off x="7063740" y="2977007"/>
            <a:ext cx="329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9" name="Text 69">
            <a:extLst>
              <a:ext uri="{FF2B5EF4-FFF2-40B4-BE49-F238E27FC236}">
                <a16:creationId xmlns:a16="http://schemas.microsoft.com/office/drawing/2014/main" id="{43EFD279-B497-5C02-EEB1-04FFAA9C077B}"/>
              </a:ext>
            </a:extLst>
          </p:cNvPr>
          <p:cNvSpPr/>
          <p:nvPr/>
        </p:nvSpPr>
        <p:spPr>
          <a:xfrm>
            <a:off x="7440930" y="2990723"/>
            <a:ext cx="13030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</a:t>
            </a:r>
            <a:endParaRPr lang="en-US" sz="750" dirty="0"/>
          </a:p>
        </p:txBody>
      </p:sp>
      <p:sp>
        <p:nvSpPr>
          <p:cNvPr id="70" name="Text 70">
            <a:extLst>
              <a:ext uri="{FF2B5EF4-FFF2-40B4-BE49-F238E27FC236}">
                <a16:creationId xmlns:a16="http://schemas.microsoft.com/office/drawing/2014/main" id="{45421D8C-2AC4-29EA-F0EA-D71DD2187BD2}"/>
              </a:ext>
            </a:extLst>
          </p:cNvPr>
          <p:cNvSpPr/>
          <p:nvPr/>
        </p:nvSpPr>
        <p:spPr>
          <a:xfrm>
            <a:off x="7440930" y="3141599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i="1" dirty="0">
                <a:solidFill>
                  <a:srgbClr val="E9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Deal-breaker risk present</a:t>
            </a:r>
            <a:endParaRPr lang="en-US" sz="600" dirty="0"/>
          </a:p>
        </p:txBody>
      </p:sp>
      <p:sp>
        <p:nvSpPr>
          <p:cNvPr id="75" name="Text 75">
            <a:extLst>
              <a:ext uri="{FF2B5EF4-FFF2-40B4-BE49-F238E27FC236}">
                <a16:creationId xmlns:a16="http://schemas.microsoft.com/office/drawing/2014/main" id="{FBD831A1-394F-F6E7-199A-980E2A6D5688}"/>
              </a:ext>
            </a:extLst>
          </p:cNvPr>
          <p:cNvSpPr/>
          <p:nvPr/>
        </p:nvSpPr>
        <p:spPr>
          <a:xfrm>
            <a:off x="7063740" y="3570224"/>
            <a:ext cx="161163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E9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pillars sum to 100%. Each pillar is scored with defined quantitative bands (slides 7–12).</a:t>
            </a: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297752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800AC-F1BC-479D-BEF9-C8C62CE6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DDC2AFD-BE9B-8B3E-DA0B-928419AC43BF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FINANCIAL ATTRACTIVENESS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62B73930-A80D-7FAC-566A-A822C596516B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35E9E535-0A0C-DDF0-2FDC-14C9600AC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8E5566DD-00D1-2A69-1E1F-F92CF1DBB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13180"/>
              </p:ext>
            </p:extLst>
          </p:nvPr>
        </p:nvGraphicFramePr>
        <p:xfrm>
          <a:off x="342900" y="754380"/>
          <a:ext cx="8455914" cy="100584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Sub-Criterion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  (Very Poor)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32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3  (Moderate)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5  (Excellent)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81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IRR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&lt;18% equity IRR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18–22% equity IRR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≥25% equity IRR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model, after debt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 yrs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yrs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≤5 yrs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cash flow analysis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 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20% EBITDA 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30% EBITDA 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30%  EBITDA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model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5">
            <a:extLst>
              <a:ext uri="{FF2B5EF4-FFF2-40B4-BE49-F238E27FC236}">
                <a16:creationId xmlns:a16="http://schemas.microsoft.com/office/drawing/2014/main" id="{F258E064-FDFA-BC6D-7BAC-F668A5D9E342}"/>
              </a:ext>
            </a:extLst>
          </p:cNvPr>
          <p:cNvSpPr/>
          <p:nvPr/>
        </p:nvSpPr>
        <p:spPr>
          <a:xfrm>
            <a:off x="342900" y="3953044"/>
            <a:ext cx="8455914" cy="397764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700A5DD-DEDA-C443-B727-EE1E14E6D09C}"/>
              </a:ext>
            </a:extLst>
          </p:cNvPr>
          <p:cNvSpPr/>
          <p:nvPr/>
        </p:nvSpPr>
        <p:spPr>
          <a:xfrm>
            <a:off x="342900" y="3953044"/>
            <a:ext cx="54864" cy="397764"/>
          </a:xfrm>
          <a:prstGeom prst="rect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6D12E41-A2C0-A43A-EA78-4289F3E87D8B}"/>
              </a:ext>
            </a:extLst>
          </p:cNvPr>
          <p:cNvSpPr/>
          <p:nvPr/>
        </p:nvSpPr>
        <p:spPr>
          <a:xfrm>
            <a:off x="480060" y="3973618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143821"/>
                </a:solidFill>
              </a:rPr>
              <a:t>THRESHOLD TO PASS:  </a:t>
            </a:r>
            <a:r>
              <a:rPr lang="en-US" sz="750" dirty="0">
                <a:solidFill>
                  <a:srgbClr val="1E2A20"/>
                </a:solidFill>
              </a:rPr>
              <a:t>≥ 9  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97231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44212-6909-CEFE-B5E3-490F1F95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F0DB40A-F40E-1D38-697E-C321DCA6013B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COMMERCIAL VIABILITY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47E1E24C-C8E3-1829-0D15-A31AEE04A4D3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F7AE1722-15DE-D1A0-015A-061C5AF4D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CC6C0FF3-D61B-D1B1-B4D4-6C730A10F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448438"/>
              </p:ext>
            </p:extLst>
          </p:nvPr>
        </p:nvGraphicFramePr>
        <p:xfrm>
          <a:off x="342900" y="754380"/>
          <a:ext cx="8455914" cy="166878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Sub-Criterion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  (Very Poor)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32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3  (Moderate)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5  (Excellent)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81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 Credit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Unrated / weak SME / history of arrears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 corporate, 1–2 yrs clean record, no bank guarantees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Multinational / sovereign-guaranteed / bank LC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bureau · 2-yr audited F/S · bank references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Competitiveness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&gt; customer's current alternative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parity with grid/diesel equivalent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 &gt; customer's current alternative</a:t>
                      </a: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vs alt-cost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Strength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yrs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6  yrs,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≥10 yrs, 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review of PPA/GSA term sheet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Certainty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only; no metered data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Site-metered OR comparable facility data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load  ≥ 12 months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study, meter logs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 minimum off taker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signed contracts, volume commitments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741703"/>
                  </a:ext>
                </a:extLst>
              </a:tr>
            </a:tbl>
          </a:graphicData>
        </a:graphic>
      </p:graphicFrame>
      <p:sp>
        <p:nvSpPr>
          <p:cNvPr id="5" name="Shape 5">
            <a:extLst>
              <a:ext uri="{FF2B5EF4-FFF2-40B4-BE49-F238E27FC236}">
                <a16:creationId xmlns:a16="http://schemas.microsoft.com/office/drawing/2014/main" id="{0B1427DF-454E-E66F-9B6D-04A2E36C0D63}"/>
              </a:ext>
            </a:extLst>
          </p:cNvPr>
          <p:cNvSpPr/>
          <p:nvPr/>
        </p:nvSpPr>
        <p:spPr>
          <a:xfrm>
            <a:off x="342900" y="3953044"/>
            <a:ext cx="8455914" cy="397764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04EF399-D388-E0D4-28AE-C1C07C393CBB}"/>
              </a:ext>
            </a:extLst>
          </p:cNvPr>
          <p:cNvSpPr/>
          <p:nvPr/>
        </p:nvSpPr>
        <p:spPr>
          <a:xfrm>
            <a:off x="342900" y="3953044"/>
            <a:ext cx="54864" cy="397764"/>
          </a:xfrm>
          <a:prstGeom prst="rect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402A561-C4D1-B212-2A54-F24F20AB976B}"/>
              </a:ext>
            </a:extLst>
          </p:cNvPr>
          <p:cNvSpPr/>
          <p:nvPr/>
        </p:nvSpPr>
        <p:spPr>
          <a:xfrm>
            <a:off x="480060" y="3973618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143821"/>
                </a:solidFill>
              </a:rPr>
              <a:t>THRESHOLD TO PASS:  </a:t>
            </a:r>
            <a:r>
              <a:rPr lang="en-US" sz="750" b="1" dirty="0">
                <a:solidFill>
                  <a:srgbClr val="1E2A20"/>
                </a:solidFill>
              </a:rPr>
              <a:t> ≥ 15</a:t>
            </a:r>
            <a:endParaRPr lang="en-US" sz="750" b="1" dirty="0"/>
          </a:p>
        </p:txBody>
      </p:sp>
    </p:spTree>
    <p:extLst>
      <p:ext uri="{BB962C8B-B14F-4D97-AF65-F5344CB8AC3E}">
        <p14:creationId xmlns:p14="http://schemas.microsoft.com/office/powerpoint/2010/main" val="183281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9EF4-E34A-64A6-51B8-9B07C94C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2E88164-8E7D-5478-23C7-D099817D3455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TECHNICAL VIABILITY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82CCE679-4E62-9221-B8EF-094504ABBF10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AD53A5AC-7C14-2991-B479-1EC26384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E76F440E-7217-5626-2BD9-5CA78A4AF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80102"/>
              </p:ext>
            </p:extLst>
          </p:nvPr>
        </p:nvGraphicFramePr>
        <p:xfrm>
          <a:off x="342900" y="754380"/>
          <a:ext cx="8455914" cy="138303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Sub-Criterion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  (Very Poor)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32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3  (Moderate)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5  (Excellent)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81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Maturity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/ unproven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local track record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kern="1200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 local track record</a:t>
                      </a: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references, site visits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 / Construction Risk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Untested EPC, &gt;18 </a:t>
                      </a:r>
                      <a:r>
                        <a:rPr lang="en-US" sz="700" dirty="0" err="1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build, remote site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Tier-2 EPC, 12–18 mo build, accessible site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Tier-1 EPC, &lt;12 mo build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 track record, contract terms, site logistics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O&amp;M Capability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O&amp;M plan; new team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Outsourced O&amp;M, standard SLAs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O&amp;M OR OEM long-term service agreement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O&amp;M plan, staffing, LTSA terms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&amp; Interconnection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interconnection study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Preliminary study done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study complete; capacity confirmed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Interconnection study, letter from TCN/Disco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5">
            <a:extLst>
              <a:ext uri="{FF2B5EF4-FFF2-40B4-BE49-F238E27FC236}">
                <a16:creationId xmlns:a16="http://schemas.microsoft.com/office/drawing/2014/main" id="{A0549C6F-CFF9-1C98-DC24-D3A5C60928A7}"/>
              </a:ext>
            </a:extLst>
          </p:cNvPr>
          <p:cNvSpPr/>
          <p:nvPr/>
        </p:nvSpPr>
        <p:spPr>
          <a:xfrm>
            <a:off x="342900" y="3953044"/>
            <a:ext cx="8455914" cy="397764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E8CB1D6-B3B8-CC01-9ABA-B1DE49F118D6}"/>
              </a:ext>
            </a:extLst>
          </p:cNvPr>
          <p:cNvSpPr/>
          <p:nvPr/>
        </p:nvSpPr>
        <p:spPr>
          <a:xfrm>
            <a:off x="342900" y="3953044"/>
            <a:ext cx="54864" cy="397764"/>
          </a:xfrm>
          <a:prstGeom prst="rect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E0B7482-B7B2-7042-14F5-57A6EF75914C}"/>
              </a:ext>
            </a:extLst>
          </p:cNvPr>
          <p:cNvSpPr/>
          <p:nvPr/>
        </p:nvSpPr>
        <p:spPr>
          <a:xfrm>
            <a:off x="480060" y="3973618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143821"/>
                </a:solidFill>
              </a:rPr>
              <a:t>THRESHOLD TO PASS: </a:t>
            </a:r>
            <a:r>
              <a:rPr lang="en-US" sz="750" dirty="0">
                <a:solidFill>
                  <a:srgbClr val="1E2A20"/>
                </a:solidFill>
              </a:rPr>
              <a:t> </a:t>
            </a:r>
            <a:r>
              <a:rPr lang="en-US" sz="750" b="1" dirty="0">
                <a:solidFill>
                  <a:srgbClr val="1E2A20"/>
                </a:solidFill>
              </a:rPr>
              <a:t>≥ 12</a:t>
            </a:r>
            <a:endParaRPr lang="en-US" sz="750" b="1" dirty="0"/>
          </a:p>
        </p:txBody>
      </p:sp>
    </p:spTree>
    <p:extLst>
      <p:ext uri="{BB962C8B-B14F-4D97-AF65-F5344CB8AC3E}">
        <p14:creationId xmlns:p14="http://schemas.microsoft.com/office/powerpoint/2010/main" val="101977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82B0-49D7-1D8E-79A3-09BB94EC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365C72A-EBFA-E8F4-29A7-E2F6C0282829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RISK AND REGULATORY CONSIDERATION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C5494DFA-2CFA-8F91-E1E5-C03E8EA5EE3E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72643313-E984-0485-AA94-EFD9A7F1D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8DA657C2-7862-CE2E-6B4C-425C1569C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78774"/>
              </p:ext>
            </p:extLst>
          </p:nvPr>
        </p:nvGraphicFramePr>
        <p:xfrm>
          <a:off x="342900" y="754380"/>
          <a:ext cx="8455914" cy="138303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Sub-Criterion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  (Very Poor)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32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3  (Moderate)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5  (Excellent)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81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 in obtaining licensing and permits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permit uncertain or blocked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 identified, 6–12 mo lead time, some precedent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permits named; precedent exists; ≤6 mo lead time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opinion; permit schedule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Title &amp; Legal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Disputed title; unresolved community claim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with clear terms; minor encumbrance being resolved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C of O or registered lease; no claims; SPV structure clean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search, community MOU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 / Investor Alignment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Conflicts with key investors' ESG policies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 baseline E&amp;S safeguards 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Investor-specific ESG (InfraCredit, Anergi) aligned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 gap assessment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High-security-risk zone; insurance not available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risk; insurance available at market rates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Low-risk zone; full insurance at standard rates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assessment; insurance quotes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5">
            <a:extLst>
              <a:ext uri="{FF2B5EF4-FFF2-40B4-BE49-F238E27FC236}">
                <a16:creationId xmlns:a16="http://schemas.microsoft.com/office/drawing/2014/main" id="{30AEF3F0-F7F6-9973-2FCC-B28BEC6713AE}"/>
              </a:ext>
            </a:extLst>
          </p:cNvPr>
          <p:cNvSpPr/>
          <p:nvPr/>
        </p:nvSpPr>
        <p:spPr>
          <a:xfrm>
            <a:off x="342900" y="3953044"/>
            <a:ext cx="8455914" cy="397764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B5AA38E-5259-B605-51AB-4FC9BF5E5F0A}"/>
              </a:ext>
            </a:extLst>
          </p:cNvPr>
          <p:cNvSpPr/>
          <p:nvPr/>
        </p:nvSpPr>
        <p:spPr>
          <a:xfrm>
            <a:off x="342900" y="3953044"/>
            <a:ext cx="54864" cy="397764"/>
          </a:xfrm>
          <a:prstGeom prst="rect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FF3C5D9-7AEB-CC39-41A9-568EF64DFBD1}"/>
              </a:ext>
            </a:extLst>
          </p:cNvPr>
          <p:cNvSpPr/>
          <p:nvPr/>
        </p:nvSpPr>
        <p:spPr>
          <a:xfrm>
            <a:off x="480060" y="3973618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143821"/>
                </a:solidFill>
              </a:rPr>
              <a:t>THRESHOLD TO PASS:  </a:t>
            </a:r>
            <a:r>
              <a:rPr lang="en-US" sz="750" b="1" dirty="0">
                <a:solidFill>
                  <a:srgbClr val="1E2A20"/>
                </a:solidFill>
              </a:rPr>
              <a:t>≥ 12</a:t>
            </a:r>
            <a:endParaRPr lang="en-US" sz="750" b="1" dirty="0"/>
          </a:p>
        </p:txBody>
      </p:sp>
    </p:spTree>
    <p:extLst>
      <p:ext uri="{BB962C8B-B14F-4D97-AF65-F5344CB8AC3E}">
        <p14:creationId xmlns:p14="http://schemas.microsoft.com/office/powerpoint/2010/main" val="421330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4E71-2465-7764-3209-74C0D4FD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49F78D2-40E3-E87E-41B4-9E96B1CFB114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ABILITY TO FUND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5BF287AC-B581-F9E6-81D0-8CFDB8C8C97F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CF1ED8A5-7B4A-CD7E-A3C8-9E90E6413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FA8A5679-604A-4EA3-7B67-3C7227663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941676"/>
              </p:ext>
            </p:extLst>
          </p:nvPr>
        </p:nvGraphicFramePr>
        <p:xfrm>
          <a:off x="342900" y="754380"/>
          <a:ext cx="8455914" cy="109728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Sub-Criterion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  (Very Poor)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32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3  (Moderate)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5  (Excellent)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81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Availability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equity identified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identified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commitment by DEL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Shareholder commitment letter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Co-investor Interest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co-investor interest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Preliminary interest from 1 co-investor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 co-investor or syndication path with clear path to close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Co-investor MOU / term sheet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Timeline Alignment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needed before realistic close date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7A62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achievable within timeline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closes comfortably before project critical path date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i="1" dirty="0">
                          <a:solidFill>
                            <a:srgbClr val="5C6B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vs project Gantt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5">
            <a:extLst>
              <a:ext uri="{FF2B5EF4-FFF2-40B4-BE49-F238E27FC236}">
                <a16:creationId xmlns:a16="http://schemas.microsoft.com/office/drawing/2014/main" id="{40290F48-1682-55B3-FF28-EEEB3A3BB33A}"/>
              </a:ext>
            </a:extLst>
          </p:cNvPr>
          <p:cNvSpPr/>
          <p:nvPr/>
        </p:nvSpPr>
        <p:spPr>
          <a:xfrm>
            <a:off x="342900" y="3953044"/>
            <a:ext cx="8455914" cy="397764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477084D-E1B3-3C38-6711-C3992869F97E}"/>
              </a:ext>
            </a:extLst>
          </p:cNvPr>
          <p:cNvSpPr/>
          <p:nvPr/>
        </p:nvSpPr>
        <p:spPr>
          <a:xfrm>
            <a:off x="342900" y="3953044"/>
            <a:ext cx="54864" cy="397764"/>
          </a:xfrm>
          <a:prstGeom prst="rect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89E2A83A-771F-5DC5-CCB8-678268E059B6}"/>
              </a:ext>
            </a:extLst>
          </p:cNvPr>
          <p:cNvSpPr/>
          <p:nvPr/>
        </p:nvSpPr>
        <p:spPr>
          <a:xfrm>
            <a:off x="480060" y="3973618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143821"/>
                </a:solidFill>
              </a:rPr>
              <a:t>THRESHOLD TO PASS:  </a:t>
            </a:r>
            <a:r>
              <a:rPr lang="en-US" sz="750" b="1" dirty="0">
                <a:solidFill>
                  <a:srgbClr val="1E2A20"/>
                </a:solidFill>
              </a:rPr>
              <a:t>≥ 9</a:t>
            </a:r>
            <a:endParaRPr lang="en-US" sz="750" b="1" dirty="0"/>
          </a:p>
        </p:txBody>
      </p:sp>
    </p:spTree>
    <p:extLst>
      <p:ext uri="{BB962C8B-B14F-4D97-AF65-F5344CB8AC3E}">
        <p14:creationId xmlns:p14="http://schemas.microsoft.com/office/powerpoint/2010/main" val="1615520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AF967-A789-8EEE-80F0-F7AF5009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9D7FF71-B0FB-6449-8056-BE2A7F138ACC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CONSOLIDATED INVESTMENT DECISION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87FDB59D-4953-2014-FB72-0F0B6B0BA250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9E8F1305-9058-B817-8AA6-2E6538B31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69C1C2-31FB-5BA5-0A9A-C755D27957FB}"/>
              </a:ext>
            </a:extLst>
          </p:cNvPr>
          <p:cNvSpPr txBox="1"/>
          <p:nvPr/>
        </p:nvSpPr>
        <p:spPr>
          <a:xfrm>
            <a:off x="173763" y="515779"/>
            <a:ext cx="8763000" cy="2154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 i="1" dirty="0">
                <a:solidFill>
                  <a:srgbClr val="5A6B7B"/>
                </a:solidFill>
                <a:ea typeface="Calibri"/>
                <a:cs typeface="Calibri"/>
              </a:rPr>
              <a:t>Populated from pillar scoring. This is the one-page scorecard reviewed by the Investment Committee.</a:t>
            </a: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568ED85-84D7-97D5-B48F-DE860A1D2CED}"/>
              </a:ext>
            </a:extLst>
          </p:cNvPr>
          <p:cNvSpPr/>
          <p:nvPr/>
        </p:nvSpPr>
        <p:spPr>
          <a:xfrm>
            <a:off x="342900" y="774954"/>
            <a:ext cx="5074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SCORECARD  </a:t>
            </a:r>
            <a:endParaRPr lang="en-US" sz="75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8B190651-63F0-E6E4-58E6-CD8264EAD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932608"/>
              </p:ext>
            </p:extLst>
          </p:nvPr>
        </p:nvGraphicFramePr>
        <p:xfrm>
          <a:off x="342900" y="994410"/>
          <a:ext cx="5074920" cy="2016252"/>
        </p:xfrm>
        <a:graphic>
          <a:graphicData uri="http://schemas.openxmlformats.org/drawingml/2006/table">
            <a:tbl>
              <a:tblPr/>
              <a:tblGrid>
                <a:gridCol w="2023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/5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 Commercial Viability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8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 Technical &amp; Operational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8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 Risk &amp; Regulatory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solidFill>
                            <a:srgbClr val="5E8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 Financial Attractiveness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5E8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43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 Ability to Fund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E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5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79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" marR="34290" marT="34290" marB="34290" anchor="ctr">
                    <a:lnL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8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6">
            <a:extLst>
              <a:ext uri="{FF2B5EF4-FFF2-40B4-BE49-F238E27FC236}">
                <a16:creationId xmlns:a16="http://schemas.microsoft.com/office/drawing/2014/main" id="{8E664188-766A-A35F-A724-C1B4739ED80E}"/>
              </a:ext>
            </a:extLst>
          </p:cNvPr>
          <p:cNvSpPr/>
          <p:nvPr/>
        </p:nvSpPr>
        <p:spPr>
          <a:xfrm>
            <a:off x="342900" y="3367278"/>
            <a:ext cx="5074920" cy="342900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41FC4D3-DACA-AA74-252A-75904B2FB75D}"/>
              </a:ext>
            </a:extLst>
          </p:cNvPr>
          <p:cNvSpPr/>
          <p:nvPr/>
        </p:nvSpPr>
        <p:spPr>
          <a:xfrm>
            <a:off x="342900" y="3367278"/>
            <a:ext cx="68580" cy="342900"/>
          </a:xfrm>
          <a:prstGeom prst="rect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7C23581-305F-9AFA-1967-40BCAED5F386}"/>
              </a:ext>
            </a:extLst>
          </p:cNvPr>
          <p:cNvSpPr/>
          <p:nvPr/>
        </p:nvSpPr>
        <p:spPr>
          <a:xfrm>
            <a:off x="514350" y="3367278"/>
            <a:ext cx="480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143821"/>
                </a:solidFill>
              </a:rPr>
              <a:t>KNOCKOUT CHECK: </a:t>
            </a:r>
            <a:r>
              <a:rPr lang="en-US" sz="750" b="1" dirty="0">
                <a:solidFill>
                  <a:srgbClr val="2C8145"/>
                </a:solidFill>
              </a:rPr>
              <a:t>All 9 gates PASS </a:t>
            </a:r>
            <a:r>
              <a:rPr lang="en-US" sz="750" dirty="0">
                <a:solidFill>
                  <a:srgbClr val="1E2A20"/>
                </a:solidFill>
              </a:rPr>
              <a:t>— deal eligible for pillar scoring.</a:t>
            </a:r>
            <a:endParaRPr lang="en-US" sz="7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39FD8EF-9BDF-D846-834C-55B5268FF0A6}"/>
              </a:ext>
            </a:extLst>
          </p:cNvPr>
          <p:cNvSpPr/>
          <p:nvPr/>
        </p:nvSpPr>
        <p:spPr>
          <a:xfrm>
            <a:off x="342900" y="3813048"/>
            <a:ext cx="5074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b="1" kern="0" spc="150" dirty="0">
                <a:solidFill>
                  <a:srgbClr val="C79A2E"/>
                </a:solidFill>
              </a:rPr>
              <a:t>HOW THE TOTAL IS CALCULATED   </a:t>
            </a:r>
            <a:r>
              <a:rPr lang="en-US" sz="675" i="1" dirty="0">
                <a:solidFill>
                  <a:srgbClr val="5C6B64"/>
                </a:solidFill>
              </a:rPr>
              <a:t>(</a:t>
            </a:r>
            <a:r>
              <a:rPr lang="en-US" sz="675" b="1" i="1" dirty="0">
                <a:solidFill>
                  <a:srgbClr val="5C6B64"/>
                </a:solidFill>
              </a:rPr>
              <a:t>Pillar Score / 5) × Pillar Weight  →  expressed as % of maximum.</a:t>
            </a:r>
            <a:endParaRPr lang="en-US" sz="675" b="1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8BC031F-FC7C-69A7-9F13-A200FF74C475}"/>
              </a:ext>
            </a:extLst>
          </p:cNvPr>
          <p:cNvSpPr/>
          <p:nvPr/>
        </p:nvSpPr>
        <p:spPr>
          <a:xfrm>
            <a:off x="5520690" y="788670"/>
            <a:ext cx="3278124" cy="342773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65E58B4D-F9D0-87A0-C7A8-11E9D5B0F520}"/>
              </a:ext>
            </a:extLst>
          </p:cNvPr>
          <p:cNvSpPr/>
          <p:nvPr/>
        </p:nvSpPr>
        <p:spPr>
          <a:xfrm>
            <a:off x="5726430" y="857250"/>
            <a:ext cx="28666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6A743DC0-6AB4-6E86-DFD7-B811E4B6EBA3}"/>
              </a:ext>
            </a:extLst>
          </p:cNvPr>
          <p:cNvSpPr/>
          <p:nvPr/>
        </p:nvSpPr>
        <p:spPr>
          <a:xfrm>
            <a:off x="5726430" y="1097280"/>
            <a:ext cx="2866644" cy="891540"/>
          </a:xfrm>
          <a:prstGeom prst="rect">
            <a:avLst/>
          </a:prstGeom>
          <a:solidFill>
            <a:srgbClr val="2C8145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EC2C7D-E955-45D8-1A81-7B29D0DE62F3}"/>
              </a:ext>
            </a:extLst>
          </p:cNvPr>
          <p:cNvSpPr/>
          <p:nvPr/>
        </p:nvSpPr>
        <p:spPr>
          <a:xfrm>
            <a:off x="5726430" y="1097280"/>
            <a:ext cx="2866644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77.8%</a:t>
            </a:r>
            <a:endParaRPr lang="en-US" sz="4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830EED0-E872-04DA-B714-EB6FF105B9A5}"/>
              </a:ext>
            </a:extLst>
          </p:cNvPr>
          <p:cNvSpPr/>
          <p:nvPr/>
        </p:nvSpPr>
        <p:spPr>
          <a:xfrm>
            <a:off x="5726430" y="1714500"/>
            <a:ext cx="28666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2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675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6A28E5D-278F-2CFB-9861-120A46F9985C}"/>
              </a:ext>
            </a:extLst>
          </p:cNvPr>
          <p:cNvSpPr/>
          <p:nvPr/>
        </p:nvSpPr>
        <p:spPr>
          <a:xfrm>
            <a:off x="5726430" y="2091690"/>
            <a:ext cx="2866644" cy="425196"/>
          </a:xfrm>
          <a:prstGeom prst="rect">
            <a:avLst/>
          </a:prstGeom>
          <a:solidFill>
            <a:srgbClr val="2C8145"/>
          </a:solidFill>
          <a:ln w="15875">
            <a:solidFill>
              <a:srgbClr val="2C814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D4F6AE7-2CEC-B715-3C9F-53FAE4763014}"/>
              </a:ext>
            </a:extLst>
          </p:cNvPr>
          <p:cNvSpPr/>
          <p:nvPr/>
        </p:nvSpPr>
        <p:spPr>
          <a:xfrm>
            <a:off x="5808726" y="2119122"/>
            <a:ext cx="8915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75%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51C8814-BE90-DA40-903C-CF0BA0339717}"/>
              </a:ext>
            </a:extLst>
          </p:cNvPr>
          <p:cNvSpPr/>
          <p:nvPr/>
        </p:nvSpPr>
        <p:spPr>
          <a:xfrm>
            <a:off x="6686550" y="2125980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kern="0" spc="11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825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847F66D-C35C-FDED-09DA-8BA5FB1AA50B}"/>
              </a:ext>
            </a:extLst>
          </p:cNvPr>
          <p:cNvSpPr/>
          <p:nvPr/>
        </p:nvSpPr>
        <p:spPr>
          <a:xfrm>
            <a:off x="6686550" y="2304288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full DD &amp; term sheet</a:t>
            </a:r>
            <a:endParaRPr lang="en-US" sz="675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1AC2D24-00B4-05EC-0EFB-80B4B1706D5A}"/>
              </a:ext>
            </a:extLst>
          </p:cNvPr>
          <p:cNvSpPr/>
          <p:nvPr/>
        </p:nvSpPr>
        <p:spPr>
          <a:xfrm>
            <a:off x="5726430" y="2571750"/>
            <a:ext cx="2866644" cy="425196"/>
          </a:xfrm>
          <a:prstGeom prst="rect">
            <a:avLst/>
          </a:prstGeom>
          <a:solidFill>
            <a:srgbClr val="FFFFFF">
              <a:alpha val="12000"/>
            </a:srgbClr>
          </a:solidFill>
          <a:ln w="15875">
            <a:solidFill>
              <a:srgbClr val="C79A2E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chemeClr val="bg1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76D03F8-5848-AEF7-92C1-C62B1C01329A}"/>
              </a:ext>
            </a:extLst>
          </p:cNvPr>
          <p:cNvSpPr/>
          <p:nvPr/>
        </p:nvSpPr>
        <p:spPr>
          <a:xfrm>
            <a:off x="5808726" y="2599182"/>
            <a:ext cx="8915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– 74%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3634F87-1588-2A4D-79E4-9C1179A9FCE4}"/>
              </a:ext>
            </a:extLst>
          </p:cNvPr>
          <p:cNvSpPr/>
          <p:nvPr/>
        </p:nvSpPr>
        <p:spPr>
          <a:xfrm>
            <a:off x="6686550" y="2606040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kern="0" spc="113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GO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16BF044-5A4A-1965-EB82-80B077D9000B}"/>
              </a:ext>
            </a:extLst>
          </p:cNvPr>
          <p:cNvSpPr/>
          <p:nvPr/>
        </p:nvSpPr>
        <p:spPr>
          <a:xfrm>
            <a:off x="6686550" y="2784348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conditions; restructure</a:t>
            </a:r>
            <a:endParaRPr lang="en-US" sz="675" dirty="0">
              <a:solidFill>
                <a:schemeClr val="bg1"/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8C392D9-F200-C2F6-D8CA-8E1460C4A3A3}"/>
              </a:ext>
            </a:extLst>
          </p:cNvPr>
          <p:cNvSpPr/>
          <p:nvPr/>
        </p:nvSpPr>
        <p:spPr>
          <a:xfrm>
            <a:off x="5726430" y="3051810"/>
            <a:ext cx="2866644" cy="425196"/>
          </a:xfrm>
          <a:prstGeom prst="rect">
            <a:avLst/>
          </a:prstGeom>
          <a:solidFill>
            <a:srgbClr val="FFFFFF">
              <a:alpha val="12000"/>
            </a:srgbClr>
          </a:solidFill>
          <a:ln w="15875">
            <a:solidFill>
              <a:srgbClr val="B1322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0017E4C-B980-7C23-394B-076037EDB9DB}"/>
              </a:ext>
            </a:extLst>
          </p:cNvPr>
          <p:cNvSpPr/>
          <p:nvPr/>
        </p:nvSpPr>
        <p:spPr>
          <a:xfrm>
            <a:off x="5808726" y="3079242"/>
            <a:ext cx="8915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B13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60%</a:t>
            </a:r>
            <a:endParaRPr lang="en-US" sz="10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8E35BEA-6B0E-C862-C18C-58A7B6E72EA8}"/>
              </a:ext>
            </a:extLst>
          </p:cNvPr>
          <p:cNvSpPr/>
          <p:nvPr/>
        </p:nvSpPr>
        <p:spPr>
          <a:xfrm>
            <a:off x="6686550" y="3086100"/>
            <a:ext cx="20093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kern="0" spc="113" dirty="0">
                <a:solidFill>
                  <a:srgbClr val="B1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</a:t>
            </a:r>
            <a:endParaRPr lang="en-US" sz="825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BEAFB52-1F37-4CF3-33BF-1D0F44D61A92}"/>
              </a:ext>
            </a:extLst>
          </p:cNvPr>
          <p:cNvSpPr/>
          <p:nvPr/>
        </p:nvSpPr>
        <p:spPr>
          <a:xfrm>
            <a:off x="6686550" y="3264408"/>
            <a:ext cx="2009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i="1" dirty="0">
                <a:solidFill>
                  <a:srgbClr val="B1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Decline; document exit rationale</a:t>
            </a:r>
            <a:endParaRPr lang="en-US" sz="675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22CC1B7-2651-58E8-774E-733D4B65F27F}"/>
              </a:ext>
            </a:extLst>
          </p:cNvPr>
          <p:cNvSpPr/>
          <p:nvPr/>
        </p:nvSpPr>
        <p:spPr>
          <a:xfrm>
            <a:off x="5726430" y="3566160"/>
            <a:ext cx="2866644" cy="4800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79A2E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chemeClr val="bg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32D241F-250D-6FF0-16CB-BA481CF3F157}"/>
              </a:ext>
            </a:extLst>
          </p:cNvPr>
          <p:cNvSpPr/>
          <p:nvPr/>
        </p:nvSpPr>
        <p:spPr>
          <a:xfrm>
            <a:off x="5829300" y="3621024"/>
            <a:ext cx="2660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RECOMMENDATION 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2D62C58-6079-2FC1-06AC-F41CAF5A8F1B}"/>
              </a:ext>
            </a:extLst>
          </p:cNvPr>
          <p:cNvSpPr/>
          <p:nvPr/>
        </p:nvSpPr>
        <p:spPr>
          <a:xfrm>
            <a:off x="5829300" y="377190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TO </a:t>
            </a:r>
            <a:r>
              <a:rPr lang="en-US" sz="135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13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584D-1567-DADE-20DA-963AB475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A01D05B-FD77-E6E5-3438-65CC92BFB670}"/>
              </a:ext>
            </a:extLst>
          </p:cNvPr>
          <p:cNvSpPr/>
          <p:nvPr/>
        </p:nvSpPr>
        <p:spPr>
          <a:xfrm>
            <a:off x="102946" y="0"/>
            <a:ext cx="9041054" cy="406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A2F6F"/>
                </a:solidFill>
                <a:ea typeface="Calibri"/>
                <a:cs typeface="Calibri"/>
              </a:rPr>
              <a:t>ORIGINATION TO INVESTMENT DECISION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D4CF0D0F-A734-3E7F-BF01-064EFBC257D8}"/>
              </a:ext>
            </a:extLst>
          </p:cNvPr>
          <p:cNvSpPr/>
          <p:nvPr/>
        </p:nvSpPr>
        <p:spPr>
          <a:xfrm>
            <a:off x="173762" y="411479"/>
            <a:ext cx="8788400" cy="36576"/>
          </a:xfrm>
          <a:prstGeom prst="rect">
            <a:avLst/>
          </a:prstGeom>
          <a:solidFill>
            <a:srgbClr val="002060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US" sz="1350">
              <a:solidFill>
                <a:sysClr val="windowText" lastClr="000000"/>
              </a:solidFill>
            </a:endParaRPr>
          </a:p>
        </p:txBody>
      </p:sp>
      <p:pic>
        <p:nvPicPr>
          <p:cNvPr id="4" name="Picture 3" descr="DEL Decentralised Energy Limited logo.&#10;&#10;AI-generated content may be incorrect.">
            <a:extLst>
              <a:ext uri="{FF2B5EF4-FFF2-40B4-BE49-F238E27FC236}">
                <a16:creationId xmlns:a16="http://schemas.microsoft.com/office/drawing/2014/main" id="{88C59C7A-8C65-61E0-5C40-1E239D7FD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335" y="81279"/>
            <a:ext cx="637827" cy="262129"/>
          </a:xfrm>
          <a:prstGeom prst="rect">
            <a:avLst/>
          </a:prstGeom>
        </p:spPr>
      </p:pic>
      <p:sp>
        <p:nvSpPr>
          <p:cNvPr id="3" name="Shape 5">
            <a:extLst>
              <a:ext uri="{FF2B5EF4-FFF2-40B4-BE49-F238E27FC236}">
                <a16:creationId xmlns:a16="http://schemas.microsoft.com/office/drawing/2014/main" id="{782C4D38-64F5-5B7D-2673-F893002CF5BC}"/>
              </a:ext>
            </a:extLst>
          </p:cNvPr>
          <p:cNvSpPr/>
          <p:nvPr/>
        </p:nvSpPr>
        <p:spPr>
          <a:xfrm>
            <a:off x="342900" y="844550"/>
            <a:ext cx="1554023" cy="29489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F54C6364-5816-7B4E-7F05-5135012541D4}"/>
              </a:ext>
            </a:extLst>
          </p:cNvPr>
          <p:cNvSpPr/>
          <p:nvPr/>
        </p:nvSpPr>
        <p:spPr>
          <a:xfrm>
            <a:off x="342900" y="844550"/>
            <a:ext cx="1554023" cy="10287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BC08C74E-66CC-5784-E0A9-A9A203192D05}"/>
              </a:ext>
            </a:extLst>
          </p:cNvPr>
          <p:cNvSpPr/>
          <p:nvPr/>
        </p:nvSpPr>
        <p:spPr>
          <a:xfrm>
            <a:off x="742721" y="1153160"/>
            <a:ext cx="754380" cy="75438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75D79D6-5DB0-6AB6-93BF-64E370CEFE87}"/>
              </a:ext>
            </a:extLst>
          </p:cNvPr>
          <p:cNvSpPr/>
          <p:nvPr/>
        </p:nvSpPr>
        <p:spPr>
          <a:xfrm>
            <a:off x="742721" y="115316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BCE61F4-5AF1-DFCE-DD6A-9FDDCC4BADC0}"/>
              </a:ext>
            </a:extLst>
          </p:cNvPr>
          <p:cNvSpPr/>
          <p:nvPr/>
        </p:nvSpPr>
        <p:spPr>
          <a:xfrm>
            <a:off x="445770" y="2010410"/>
            <a:ext cx="1348283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438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Origination</a:t>
            </a:r>
            <a:endParaRPr lang="en-US" sz="105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A91E0589-F26F-7976-A1A0-D5D680B827ED}"/>
              </a:ext>
            </a:extLst>
          </p:cNvPr>
          <p:cNvSpPr/>
          <p:nvPr/>
        </p:nvSpPr>
        <p:spPr>
          <a:xfrm>
            <a:off x="548640" y="2353310"/>
            <a:ext cx="1142543" cy="240030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F0640ECC-D2D4-A0EF-EDF2-805A1858F39A}"/>
              </a:ext>
            </a:extLst>
          </p:cNvPr>
          <p:cNvSpPr/>
          <p:nvPr/>
        </p:nvSpPr>
        <p:spPr>
          <a:xfrm>
            <a:off x="548640" y="2353310"/>
            <a:ext cx="11425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75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A99123B2-417A-68A0-21C5-193F1BBE8DDE}"/>
              </a:ext>
            </a:extLst>
          </p:cNvPr>
          <p:cNvSpPr/>
          <p:nvPr/>
        </p:nvSpPr>
        <p:spPr>
          <a:xfrm>
            <a:off x="480060" y="2696210"/>
            <a:ext cx="127970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25"/>
              </a:spcAft>
            </a:pPr>
            <a:r>
              <a:rPr lang="en-US" sz="7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sourced via BD / inbound / partner. Intake form populated by analyst. Deal ID assigned.</a:t>
            </a:r>
            <a:endParaRPr lang="en-US" sz="75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395D2AE9-033F-A2F9-C3E1-2554702F12D1}"/>
              </a:ext>
            </a:extLst>
          </p:cNvPr>
          <p:cNvSpPr/>
          <p:nvPr/>
        </p:nvSpPr>
        <p:spPr>
          <a:xfrm rot="5400000">
            <a:off x="1917497" y="2216150"/>
            <a:ext cx="96012" cy="205740"/>
          </a:xfrm>
          <a:prstGeom prst="rtTriangle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2950DCF3-0D7F-70C3-42E3-080FB4C8FCC0}"/>
              </a:ext>
            </a:extLst>
          </p:cNvPr>
          <p:cNvSpPr/>
          <p:nvPr/>
        </p:nvSpPr>
        <p:spPr>
          <a:xfrm>
            <a:off x="2068372" y="844550"/>
            <a:ext cx="1554023" cy="29489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9DFBE5DE-FAB7-6EE2-AECC-C378B8D9AEC4}"/>
              </a:ext>
            </a:extLst>
          </p:cNvPr>
          <p:cNvSpPr/>
          <p:nvPr/>
        </p:nvSpPr>
        <p:spPr>
          <a:xfrm>
            <a:off x="2068372" y="844550"/>
            <a:ext cx="1554023" cy="102870"/>
          </a:xfrm>
          <a:prstGeom prst="rect">
            <a:avLst/>
          </a:prstGeom>
          <a:solidFill>
            <a:srgbClr val="B1322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8F615A5-08AF-968C-E659-B53E2C3A9FC8}"/>
              </a:ext>
            </a:extLst>
          </p:cNvPr>
          <p:cNvSpPr/>
          <p:nvPr/>
        </p:nvSpPr>
        <p:spPr>
          <a:xfrm>
            <a:off x="2468195" y="1153160"/>
            <a:ext cx="754380" cy="754380"/>
          </a:xfrm>
          <a:prstGeom prst="ellipse">
            <a:avLst/>
          </a:prstGeom>
          <a:solidFill>
            <a:srgbClr val="B1322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DCF52E10-D2A0-D087-4B12-037E3A6F3050}"/>
              </a:ext>
            </a:extLst>
          </p:cNvPr>
          <p:cNvSpPr/>
          <p:nvPr/>
        </p:nvSpPr>
        <p:spPr>
          <a:xfrm>
            <a:off x="2468195" y="115316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33CC6F97-CBC5-1958-1A07-47A390E94DF7}"/>
              </a:ext>
            </a:extLst>
          </p:cNvPr>
          <p:cNvSpPr/>
          <p:nvPr/>
        </p:nvSpPr>
        <p:spPr>
          <a:xfrm>
            <a:off x="2171242" y="2010410"/>
            <a:ext cx="1348283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438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Knockout Screen</a:t>
            </a:r>
            <a:endParaRPr lang="en-US" sz="105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D66612B-75B3-9DA0-149B-FA2A80D5C32D}"/>
              </a:ext>
            </a:extLst>
          </p:cNvPr>
          <p:cNvSpPr/>
          <p:nvPr/>
        </p:nvSpPr>
        <p:spPr>
          <a:xfrm>
            <a:off x="2274112" y="2353310"/>
            <a:ext cx="1142543" cy="240030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6DF28AD7-2E70-9E80-FE95-0254B8D3D7DD}"/>
              </a:ext>
            </a:extLst>
          </p:cNvPr>
          <p:cNvSpPr/>
          <p:nvPr/>
        </p:nvSpPr>
        <p:spPr>
          <a:xfrm>
            <a:off x="2274112" y="2353310"/>
            <a:ext cx="11425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150" dirty="0">
                <a:solidFill>
                  <a:srgbClr val="B1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75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CAD53E3B-ED0B-A0C0-EE1D-9E6CAB3ED0B1}"/>
              </a:ext>
            </a:extLst>
          </p:cNvPr>
          <p:cNvSpPr/>
          <p:nvPr/>
        </p:nvSpPr>
        <p:spPr>
          <a:xfrm>
            <a:off x="2205532" y="2696210"/>
            <a:ext cx="127970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25"/>
              </a:spcAft>
            </a:pPr>
            <a:r>
              <a:rPr lang="en-US" sz="7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hard gates tested. Evidence logged. Any FAIL = auto decline + decline letter.</a:t>
            </a:r>
            <a:endParaRPr lang="en-US" sz="75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195462F-A3D8-5B06-0F39-0ABCF8BA032B}"/>
              </a:ext>
            </a:extLst>
          </p:cNvPr>
          <p:cNvSpPr/>
          <p:nvPr/>
        </p:nvSpPr>
        <p:spPr>
          <a:xfrm rot="5400000">
            <a:off x="3642970" y="2216150"/>
            <a:ext cx="96012" cy="205740"/>
          </a:xfrm>
          <a:prstGeom prst="rtTriangle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4101BA1B-1B57-CC32-0D45-7E98E567FD3A}"/>
              </a:ext>
            </a:extLst>
          </p:cNvPr>
          <p:cNvSpPr/>
          <p:nvPr/>
        </p:nvSpPr>
        <p:spPr>
          <a:xfrm>
            <a:off x="4193667" y="115316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7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2BC2C956-5A7B-C6E9-B062-62E729500A54}"/>
              </a:ext>
            </a:extLst>
          </p:cNvPr>
          <p:cNvSpPr/>
          <p:nvPr/>
        </p:nvSpPr>
        <p:spPr>
          <a:xfrm rot="5400000">
            <a:off x="5368442" y="2216150"/>
            <a:ext cx="96012" cy="205740"/>
          </a:xfrm>
          <a:prstGeom prst="rtTriangle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3A3A27DE-F8B4-D8A0-E1EC-11FF78028F7F}"/>
              </a:ext>
            </a:extLst>
          </p:cNvPr>
          <p:cNvSpPr/>
          <p:nvPr/>
        </p:nvSpPr>
        <p:spPr>
          <a:xfrm>
            <a:off x="3776700" y="844550"/>
            <a:ext cx="1554023" cy="29489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61E3B828-CF2B-5083-84A7-5BFCEFF387CB}"/>
              </a:ext>
            </a:extLst>
          </p:cNvPr>
          <p:cNvSpPr/>
          <p:nvPr/>
        </p:nvSpPr>
        <p:spPr>
          <a:xfrm>
            <a:off x="3776700" y="844550"/>
            <a:ext cx="1554023" cy="102870"/>
          </a:xfrm>
          <a:prstGeom prst="rect">
            <a:avLst/>
          </a:prstGeom>
          <a:solidFill>
            <a:srgbClr val="1F513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0719DEE4-B7BB-9789-C2EB-24B3CA19587F}"/>
              </a:ext>
            </a:extLst>
          </p:cNvPr>
          <p:cNvSpPr/>
          <p:nvPr/>
        </p:nvSpPr>
        <p:spPr>
          <a:xfrm>
            <a:off x="4176522" y="1153160"/>
            <a:ext cx="754380" cy="754380"/>
          </a:xfrm>
          <a:prstGeom prst="ellipse">
            <a:avLst/>
          </a:prstGeom>
          <a:solidFill>
            <a:srgbClr val="1F513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73AC23D8-C058-E8BB-1F76-4DD483C41AA7}"/>
              </a:ext>
            </a:extLst>
          </p:cNvPr>
          <p:cNvSpPr/>
          <p:nvPr/>
        </p:nvSpPr>
        <p:spPr>
          <a:xfrm>
            <a:off x="4176522" y="115316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Georgia" pitchFamily="34" charset="0"/>
              </a:rPr>
              <a:t>3</a:t>
            </a:r>
            <a:endParaRPr lang="en-US" sz="27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435335DE-06F6-3620-B2EB-6B745789AA58}"/>
              </a:ext>
            </a:extLst>
          </p:cNvPr>
          <p:cNvSpPr/>
          <p:nvPr/>
        </p:nvSpPr>
        <p:spPr>
          <a:xfrm>
            <a:off x="3879570" y="2010410"/>
            <a:ext cx="1348283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438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Due Diligence</a:t>
            </a:r>
            <a:endParaRPr lang="en-US" sz="105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A095B94C-08F6-5AC1-1F90-39806EBE7480}"/>
              </a:ext>
            </a:extLst>
          </p:cNvPr>
          <p:cNvSpPr/>
          <p:nvPr/>
        </p:nvSpPr>
        <p:spPr>
          <a:xfrm>
            <a:off x="3982440" y="2353310"/>
            <a:ext cx="1142543" cy="240030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AFA1417B-8CA7-8B5E-7888-85AD6CFBBFDD}"/>
              </a:ext>
            </a:extLst>
          </p:cNvPr>
          <p:cNvSpPr/>
          <p:nvPr/>
        </p:nvSpPr>
        <p:spPr>
          <a:xfrm>
            <a:off x="3982440" y="2353310"/>
            <a:ext cx="11425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150" dirty="0">
                <a:solidFill>
                  <a:srgbClr val="1F5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</a:t>
            </a:r>
            <a:r>
              <a:rPr lang="en-US" sz="750" b="1" kern="0" spc="150">
                <a:solidFill>
                  <a:srgbClr val="1F5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</a:t>
            </a:r>
            <a:endParaRPr lang="en-US" sz="750" dirty="0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271862AD-3B70-E89C-36FC-56FDAF9090FE}"/>
              </a:ext>
            </a:extLst>
          </p:cNvPr>
          <p:cNvSpPr/>
          <p:nvPr/>
        </p:nvSpPr>
        <p:spPr>
          <a:xfrm>
            <a:off x="3913860" y="2696210"/>
            <a:ext cx="127970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25"/>
              </a:spcAft>
            </a:pPr>
            <a:r>
              <a:rPr lang="en-US" sz="7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Commercial, Technical, Legal, Financial, ESG workstreams. </a:t>
            </a:r>
            <a:endParaRPr lang="en-US" sz="750" dirty="0"/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2720A52E-1BA8-8BC8-3E0E-B5A250F553A7}"/>
              </a:ext>
            </a:extLst>
          </p:cNvPr>
          <p:cNvSpPr/>
          <p:nvPr/>
        </p:nvSpPr>
        <p:spPr>
          <a:xfrm rot="5400000">
            <a:off x="7093916" y="2216150"/>
            <a:ext cx="96012" cy="205740"/>
          </a:xfrm>
          <a:prstGeom prst="rtTriangle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60267DC1-3382-FD4F-6265-872E1E5145AF}"/>
              </a:ext>
            </a:extLst>
          </p:cNvPr>
          <p:cNvSpPr/>
          <p:nvPr/>
        </p:nvSpPr>
        <p:spPr>
          <a:xfrm>
            <a:off x="7244791" y="844550"/>
            <a:ext cx="1554023" cy="29489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B12ADA95-517B-C2A0-7F14-920D6469C357}"/>
              </a:ext>
            </a:extLst>
          </p:cNvPr>
          <p:cNvSpPr/>
          <p:nvPr/>
        </p:nvSpPr>
        <p:spPr>
          <a:xfrm>
            <a:off x="7244791" y="844550"/>
            <a:ext cx="1554023" cy="102870"/>
          </a:xfrm>
          <a:prstGeom prst="rect">
            <a:avLst/>
          </a:prstGeom>
          <a:solidFill>
            <a:srgbClr val="14382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1103660C-DC64-4039-EEF7-0AE4E6D4EF9D}"/>
              </a:ext>
            </a:extLst>
          </p:cNvPr>
          <p:cNvSpPr/>
          <p:nvPr/>
        </p:nvSpPr>
        <p:spPr>
          <a:xfrm>
            <a:off x="7644613" y="1153160"/>
            <a:ext cx="754380" cy="754380"/>
          </a:xfrm>
          <a:prstGeom prst="ellipse">
            <a:avLst/>
          </a:prstGeom>
          <a:solidFill>
            <a:srgbClr val="14382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0BA18558-733C-E40F-A163-9B9B216A9238}"/>
              </a:ext>
            </a:extLst>
          </p:cNvPr>
          <p:cNvSpPr/>
          <p:nvPr/>
        </p:nvSpPr>
        <p:spPr>
          <a:xfrm>
            <a:off x="7644613" y="115316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700" dirty="0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5CFADDBB-0C48-7468-A7C8-6F5DD9D6499E}"/>
              </a:ext>
            </a:extLst>
          </p:cNvPr>
          <p:cNvSpPr/>
          <p:nvPr/>
        </p:nvSpPr>
        <p:spPr>
          <a:xfrm>
            <a:off x="7244791" y="2041271"/>
            <a:ext cx="1554023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438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Decision</a:t>
            </a:r>
            <a:endParaRPr lang="en-US" sz="1050" dirty="0"/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A65D3435-678F-4FD4-D5E9-AB6BCE354E0B}"/>
              </a:ext>
            </a:extLst>
          </p:cNvPr>
          <p:cNvSpPr/>
          <p:nvPr/>
        </p:nvSpPr>
        <p:spPr>
          <a:xfrm>
            <a:off x="7450531" y="2353310"/>
            <a:ext cx="1142543" cy="240030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5281A4F8-C577-8658-0EBB-CE2FC33F5FDF}"/>
              </a:ext>
            </a:extLst>
          </p:cNvPr>
          <p:cNvSpPr/>
          <p:nvPr/>
        </p:nvSpPr>
        <p:spPr>
          <a:xfrm>
            <a:off x="7450531" y="2353310"/>
            <a:ext cx="11425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150" dirty="0">
                <a:solidFill>
                  <a:srgbClr val="143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750" dirty="0"/>
          </a:p>
        </p:txBody>
      </p:sp>
      <p:sp>
        <p:nvSpPr>
          <p:cNvPr id="48" name="Text 48">
            <a:extLst>
              <a:ext uri="{FF2B5EF4-FFF2-40B4-BE49-F238E27FC236}">
                <a16:creationId xmlns:a16="http://schemas.microsoft.com/office/drawing/2014/main" id="{8C6D976C-0005-4C2A-72C9-303CC392BA0F}"/>
              </a:ext>
            </a:extLst>
          </p:cNvPr>
          <p:cNvSpPr/>
          <p:nvPr/>
        </p:nvSpPr>
        <p:spPr>
          <a:xfrm>
            <a:off x="7381951" y="2696210"/>
            <a:ext cx="127970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25"/>
              </a:spcAft>
            </a:pPr>
            <a:r>
              <a:rPr lang="en-US" sz="7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with DD findings. IC votes. If GO → term sheet and final approval path.</a:t>
            </a:r>
            <a:endParaRPr lang="en-US" sz="750" dirty="0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7F16CB10-C1E9-7C12-F9D0-50A26B0982A8}"/>
              </a:ext>
            </a:extLst>
          </p:cNvPr>
          <p:cNvSpPr/>
          <p:nvPr/>
        </p:nvSpPr>
        <p:spPr>
          <a:xfrm>
            <a:off x="5503031" y="844550"/>
            <a:ext cx="1554023" cy="29489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EF3ECE46-6222-92E8-E891-26C370AC45B9}"/>
              </a:ext>
            </a:extLst>
          </p:cNvPr>
          <p:cNvSpPr/>
          <p:nvPr/>
        </p:nvSpPr>
        <p:spPr>
          <a:xfrm>
            <a:off x="5503031" y="844550"/>
            <a:ext cx="1554023" cy="102870"/>
          </a:xfrm>
          <a:prstGeom prst="rect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EDDD2CE4-288D-7AF3-8E85-D0B6336CB178}"/>
              </a:ext>
            </a:extLst>
          </p:cNvPr>
          <p:cNvSpPr/>
          <p:nvPr/>
        </p:nvSpPr>
        <p:spPr>
          <a:xfrm>
            <a:off x="5902852" y="115316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700"/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C030796B-302F-5D8F-ED40-F67CFA7256A6}"/>
              </a:ext>
            </a:extLst>
          </p:cNvPr>
          <p:cNvSpPr/>
          <p:nvPr/>
        </p:nvSpPr>
        <p:spPr>
          <a:xfrm>
            <a:off x="5605901" y="2010410"/>
            <a:ext cx="1348283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1438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Scoring</a:t>
            </a:r>
            <a:endParaRPr lang="en-US" sz="105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69F6FC20-D3CA-FFC8-52E2-6E03F7F749C8}"/>
              </a:ext>
            </a:extLst>
          </p:cNvPr>
          <p:cNvSpPr/>
          <p:nvPr/>
        </p:nvSpPr>
        <p:spPr>
          <a:xfrm>
            <a:off x="5640191" y="2696210"/>
            <a:ext cx="127970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25"/>
              </a:spcAft>
            </a:pPr>
            <a:r>
              <a:rPr lang="en-US" sz="7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pillars scored against quantitative bands. Screening memo drafted. Management review.</a:t>
            </a:r>
            <a:endParaRPr lang="en-US" sz="750" dirty="0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FFC40ED8-C1C9-4469-27F0-B704467A5059}"/>
              </a:ext>
            </a:extLst>
          </p:cNvPr>
          <p:cNvSpPr/>
          <p:nvPr/>
        </p:nvSpPr>
        <p:spPr>
          <a:xfrm>
            <a:off x="5902851" y="1153160"/>
            <a:ext cx="754380" cy="754380"/>
          </a:xfrm>
          <a:prstGeom prst="ellipse">
            <a:avLst/>
          </a:prstGeom>
          <a:solidFill>
            <a:srgbClr val="C79A2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2" name="Text 35">
            <a:extLst>
              <a:ext uri="{FF2B5EF4-FFF2-40B4-BE49-F238E27FC236}">
                <a16:creationId xmlns:a16="http://schemas.microsoft.com/office/drawing/2014/main" id="{FCBB6EA7-3DCA-5A1C-C061-5EE20F046615}"/>
              </a:ext>
            </a:extLst>
          </p:cNvPr>
          <p:cNvSpPr/>
          <p:nvPr/>
        </p:nvSpPr>
        <p:spPr>
          <a:xfrm>
            <a:off x="5902851" y="115316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Georgia" pitchFamily="34" charset="0"/>
              </a:rPr>
              <a:t>4</a:t>
            </a:r>
            <a:endParaRPr lang="en-US" sz="2700"/>
          </a:p>
        </p:txBody>
      </p:sp>
      <p:sp>
        <p:nvSpPr>
          <p:cNvPr id="74" name="Shape 37">
            <a:extLst>
              <a:ext uri="{FF2B5EF4-FFF2-40B4-BE49-F238E27FC236}">
                <a16:creationId xmlns:a16="http://schemas.microsoft.com/office/drawing/2014/main" id="{C3DDA1DE-1852-68C3-336D-22408FD97D2C}"/>
              </a:ext>
            </a:extLst>
          </p:cNvPr>
          <p:cNvSpPr/>
          <p:nvPr/>
        </p:nvSpPr>
        <p:spPr>
          <a:xfrm>
            <a:off x="5725058" y="2353310"/>
            <a:ext cx="1142543" cy="240030"/>
          </a:xfrm>
          <a:prstGeom prst="rect">
            <a:avLst/>
          </a:prstGeom>
          <a:solidFill>
            <a:srgbClr val="F4F6F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5" name="Text 38">
            <a:extLst>
              <a:ext uri="{FF2B5EF4-FFF2-40B4-BE49-F238E27FC236}">
                <a16:creationId xmlns:a16="http://schemas.microsoft.com/office/drawing/2014/main" id="{FC72D628-C0A0-6E0F-F793-C331A4595FF8}"/>
              </a:ext>
            </a:extLst>
          </p:cNvPr>
          <p:cNvSpPr/>
          <p:nvPr/>
        </p:nvSpPr>
        <p:spPr>
          <a:xfrm>
            <a:off x="5725058" y="2353310"/>
            <a:ext cx="11425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150">
                <a:solidFill>
                  <a:srgbClr val="1F5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2–7</a:t>
            </a:r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900917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79B09B-9753-448A-942D-1CA64F723B0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624ac5d-74e3-4f45-8939-3958c3bc7d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83180</TotalTime>
  <Words>1769</Words>
  <Application>Microsoft Office PowerPoint</Application>
  <PresentationFormat>On-screen Show (16:9)</PresentationFormat>
  <Paragraphs>395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× Transgrid – Project Concept Note</dc:title>
  <dc:subject>PptxGenJS Presentation</dc:subject>
  <dc:creator>PptxGenJS</dc:creator>
  <cp:lastModifiedBy>Jagunmolu Kolawole</cp:lastModifiedBy>
  <cp:revision>10</cp:revision>
  <dcterms:created xsi:type="dcterms:W3CDTF">2026-04-22T00:59:44Z</dcterms:created>
  <dcterms:modified xsi:type="dcterms:W3CDTF">2026-07-03T10:25:11Z</dcterms:modified>
</cp:coreProperties>
</file>