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50800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e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777240"/>
            <a:ext cx="2558718" cy="1051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228600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Gaps &amp; Inconsistencies Found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4612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C9DCF4"/>
                </a:solidFill>
                <a:latin typeface="Calibri"/>
              </a:rPr>
              <a:t>Findings from the end-to-end review of DEL's commercial process documents,
with suggested standards applied in the interactive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62356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9EC8F5"/>
                </a:solidFill>
                <a:latin typeface="Calibri"/>
              </a:rPr>
              <a:t>20 findings · 4 categories   |   </a:t>
            </a:r>
            <a:r>
              <a:rPr sz="1400" b="1" i="1">
                <a:solidFill>
                  <a:srgbClr val="00B050"/>
                </a:solidFill>
                <a:latin typeface="Calibri"/>
              </a:rPr>
              <a:t>Making Energy 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8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8100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e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46304"/>
            <a:ext cx="1646479" cy="6766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91440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9EC8F5"/>
                </a:solidFill>
                <a:latin typeface="Calibri"/>
              </a:rPr>
              <a:t>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Four source documents, one precedence rule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11155680" cy="960120"/>
          </a:xfrm>
          <a:prstGeom prst="rect">
            <a:avLst/>
          </a:prstGeom>
          <a:solidFill>
            <a:srgbClr val="EF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81328"/>
            <a:ext cx="4663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083060"/>
                </a:solidFill>
                <a:latin typeface="Calibri"/>
              </a:rPr>
              <a:t>Deal Screening Framework (24-04-26)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47088"/>
            <a:ext cx="6035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5B6B80"/>
                </a:solidFill>
                <a:latin typeface="Calibri"/>
              </a:rPr>
              <a:t>Gates, pillars, weightings, verdict bands, timeline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1481328"/>
            <a:ext cx="3566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0B050"/>
                </a:solidFill>
                <a:latin typeface="Calibri"/>
              </a:rPr>
              <a:t>AUTHORITATIVE — wins every conflict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487168"/>
            <a:ext cx="11155680" cy="960120"/>
          </a:xfrm>
          <a:prstGeom prst="rect">
            <a:avLst/>
          </a:prstGeom>
          <a:solidFill>
            <a:srgbClr val="EF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596896"/>
            <a:ext cx="4663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083060"/>
                </a:solidFill>
                <a:latin typeface="Calibri"/>
              </a:rPr>
              <a:t>Business Development 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62656"/>
            <a:ext cx="6035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5B6B80"/>
                </a:solidFill>
                <a:latin typeface="Calibri"/>
              </a:rPr>
              <a:t>Phases, 3 decision gates, org model, development steps, finder programme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596896"/>
            <a:ext cx="3566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068D0"/>
                </a:solidFill>
                <a:latin typeface="Calibri"/>
              </a:rPr>
              <a:t>Superseded where it disagrees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602736"/>
            <a:ext cx="11155680" cy="960120"/>
          </a:xfrm>
          <a:prstGeom prst="rect">
            <a:avLst/>
          </a:prstGeom>
          <a:solidFill>
            <a:srgbClr val="EF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12464"/>
            <a:ext cx="4663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083060"/>
                </a:solidFill>
                <a:latin typeface="Calibri"/>
              </a:rPr>
              <a:t>Commercial Department Tracker (xlsx)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078224"/>
            <a:ext cx="6035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5B6B80"/>
                </a:solidFill>
                <a:latin typeface="Calibri"/>
              </a:rPr>
              <a:t>Live pipeline: stage &amp; classification vocabulary, 22 opportunities, ops tracking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3712464"/>
            <a:ext cx="3566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068D0"/>
                </a:solidFill>
                <a:latin typeface="Calibri"/>
              </a:rPr>
              <a:t>Evidence of current practice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718304"/>
            <a:ext cx="11155680" cy="960120"/>
          </a:xfrm>
          <a:prstGeom prst="rect">
            <a:avLst/>
          </a:prstGeom>
          <a:solidFill>
            <a:srgbClr val="EF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828032"/>
            <a:ext cx="4663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083060"/>
                </a:solidFill>
                <a:latin typeface="Calibri"/>
              </a:rPr>
              <a:t>Knockout Memo — MTN Data Centre rev1.1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193792"/>
            <a:ext cx="6035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5B6B80"/>
                </a:solidFill>
                <a:latin typeface="Calibri"/>
              </a:rPr>
              <a:t>A real screening: gate verdicts, CONDITIONAL PASS language, memo structure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4828032"/>
            <a:ext cx="3566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068D0"/>
                </a:solidFill>
                <a:latin typeface="Calibri"/>
              </a:rPr>
              <a:t>Template for standard outputs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879592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222E3E"/>
                </a:solidFill>
                <a:latin typeface="Calibri"/>
              </a:rPr>
              <a:t>Where the documents are silent, </a:t>
            </a:r>
            <a:r>
              <a:rPr sz="1300" b="1" i="0">
                <a:solidFill>
                  <a:srgbClr val="1068D0"/>
                </a:solidFill>
                <a:latin typeface="Calibri"/>
              </a:rPr>
              <a:t>the prototype fills the gap with an industry-standard default and flags it</a:t>
            </a:r>
            <a:r>
              <a:rPr sz="1300" b="0" i="0">
                <a:solidFill>
                  <a:srgbClr val="222E3E"/>
                </a:solidFill>
                <a:latin typeface="Calibri"/>
              </a:rPr>
              <a:t> — every default below is a proposal for DEL to confirm or replace.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0"/>
                </a:solidFill>
                <a:latin typeface="Calibri"/>
              </a:rPr>
              <a:t>DEL Commercial Platform — process document review · prototype/README.md holds the full detail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5B6B8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8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8100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e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46304"/>
            <a:ext cx="1646479" cy="6766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91440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9EC8F5"/>
                </a:solidFill>
                <a:latin typeface="Calibri"/>
              </a:rP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20 findings in four categories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2679192" cy="4114800"/>
          </a:xfrm>
          <a:prstGeom prst="rect">
            <a:avLst/>
          </a:prstGeom>
          <a:solidFill>
            <a:srgbClr val="FFFFFF"/>
          </a:solidFill>
          <a:ln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2679192" cy="63500"/>
          </a:xfrm>
          <a:prstGeom prst="rect">
            <a:avLst/>
          </a:prstGeom>
          <a:solidFill>
            <a:srgbClr val="C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00200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C03A2E"/>
                </a:solidFill>
                <a:latin typeface="Calibri"/>
              </a:rPr>
              <a:t>A</a:t>
            </a:r>
            <a:r>
              <a:rPr sz="3000" b="1" i="0">
                <a:solidFill>
                  <a:srgbClr val="083060"/>
                </a:solidFill>
                <a:latin typeface="Calibri"/>
              </a:rPr>
              <a:t>  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7744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83060"/>
                </a:solidFill>
                <a:latin typeface="Calibri"/>
              </a:rPr>
              <a:t>Direct conflicts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80360"/>
            <a:ext cx="23317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i="0">
                <a:solidFill>
                  <a:srgbClr val="5B6B80"/>
                </a:solidFill>
                <a:latin typeface="Calibri"/>
              </a:rPr>
              <a:t>The documents (or slides within one document) disagree — verdict bands, pillar weights, thresholds, stage names, classifications.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55848" y="1371600"/>
            <a:ext cx="2679192" cy="4114800"/>
          </a:xfrm>
          <a:prstGeom prst="rect">
            <a:avLst/>
          </a:prstGeom>
          <a:solidFill>
            <a:srgbClr val="FFFFFF"/>
          </a:solidFill>
          <a:ln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55848" y="1371600"/>
            <a:ext cx="2679192" cy="635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38728" y="1600200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B45309"/>
                </a:solidFill>
                <a:latin typeface="Calibri"/>
              </a:rPr>
              <a:t>B</a:t>
            </a:r>
            <a:r>
              <a:rPr sz="3000" b="1" i="0">
                <a:solidFill>
                  <a:srgbClr val="083060"/>
                </a:solidFill>
                <a:latin typeface="Calibri"/>
              </a:rPr>
              <a:t>  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8728" y="237744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83060"/>
                </a:solidFill>
                <a:latin typeface="Calibri"/>
              </a:rPr>
              <a:t>Blanks &amp; errors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880360"/>
            <a:ext cx="23317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i="0">
                <a:solidFill>
                  <a:srgbClr val="5B6B80"/>
                </a:solidFill>
                <a:latin typeface="Calibri"/>
              </a:rPr>
              <a:t>Missing scoring bands, broken band text, #REF! formulas and empty tracker columns that block basic pipeline metrics.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08776" y="1371600"/>
            <a:ext cx="2679192" cy="4114800"/>
          </a:xfrm>
          <a:prstGeom prst="rect">
            <a:avLst/>
          </a:prstGeom>
          <a:solidFill>
            <a:srgbClr val="FFFFFF"/>
          </a:solidFill>
          <a:ln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8776" y="1371600"/>
            <a:ext cx="2679192" cy="63500"/>
          </a:xfrm>
          <a:prstGeom prst="rect">
            <a:avLst/>
          </a:prstGeom>
          <a:solidFill>
            <a:srgbClr val="106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91656" y="1600200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068D0"/>
                </a:solidFill>
                <a:latin typeface="Calibri"/>
              </a:rPr>
              <a:t>C</a:t>
            </a:r>
            <a:r>
              <a:rPr sz="3000" b="1" i="0">
                <a:solidFill>
                  <a:srgbClr val="083060"/>
                </a:solidFill>
                <a:latin typeface="Calibri"/>
              </a:rPr>
              <a:t>   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656" y="237744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83060"/>
                </a:solidFill>
                <a:latin typeface="Calibri"/>
              </a:rPr>
              <a:t>Not yet standardised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6" y="2880360"/>
            <a:ext cx="23317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i="0">
                <a:solidFill>
                  <a:srgbClr val="5B6B80"/>
                </a:solidFill>
                <a:latin typeface="Calibri"/>
              </a:rPr>
              <a:t>Rules DEL applies informally or not at all — IRR hurdle, conditional-pass policy, finder terms, review cadence, templates.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61704" y="1371600"/>
            <a:ext cx="2679192" cy="4114800"/>
          </a:xfrm>
          <a:prstGeom prst="rect">
            <a:avLst/>
          </a:prstGeom>
          <a:solidFill>
            <a:srgbClr val="FFFFFF"/>
          </a:solidFill>
          <a:ln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61704" y="1371600"/>
            <a:ext cx="2679192" cy="63500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44584" y="1600200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00B050"/>
                </a:solidFill>
                <a:latin typeface="Calibri"/>
              </a:rPr>
              <a:t>D</a:t>
            </a:r>
            <a:r>
              <a:rPr sz="3000" b="1" i="0">
                <a:solidFill>
                  <a:srgbClr val="083060"/>
                </a:solidFill>
                <a:latin typeface="Calibri"/>
              </a:rPr>
              <a:t>   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44584" y="237744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83060"/>
                </a:solidFill>
                <a:latin typeface="Calibri"/>
              </a:rPr>
              <a:t>Intake additions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44584" y="2880360"/>
            <a:ext cx="23317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i="0">
                <a:solidFill>
                  <a:srgbClr val="5B6B80"/>
                </a:solidFill>
                <a:latin typeface="Calibri"/>
              </a:rPr>
              <a:t>Industry-standard fields added at information gathering so screening and scoring need no second data pass.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71500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22E3E"/>
                </a:solidFill>
                <a:latin typeface="Calibri"/>
              </a:rPr>
              <a:t>Every finding carries a recommendation. </a:t>
            </a:r>
            <a:r>
              <a:rPr sz="1300" b="0" i="0">
                <a:solidFill>
                  <a:srgbClr val="5B6B80"/>
                </a:solidFill>
                <a:latin typeface="Calibri"/>
              </a:rPr>
              <a:t>The interactive prototype demonstrates each suggested standard in action — open prototype/index.html.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0"/>
                </a:solidFill>
                <a:latin typeface="Calibri"/>
              </a:rPr>
              <a:t>DEL Commercial Platform — process document review · prototype/README.md holds the full detail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5B6B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8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8100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e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46304"/>
            <a:ext cx="1646479" cy="6766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91440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9EC8F5"/>
                </a:solidFill>
                <a:latin typeface="Calibri"/>
              </a:rPr>
              <a:t>A · DIRECT CONFLICTS (1 OF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The framework disagrees with itself — and with the BD deck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98448"/>
            <a:ext cx="11155680" cy="1566672"/>
          </a:xfrm>
          <a:prstGeom prst="rect">
            <a:avLst/>
          </a:prstGeom>
          <a:solidFill>
            <a:srgbClr val="FFFFFF"/>
          </a:solidFill>
          <a:ln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57150" cy="1566672"/>
          </a:xfrm>
          <a:prstGeom prst="rect">
            <a:avLst/>
          </a:prstGeom>
          <a:solidFill>
            <a:srgbClr val="106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" y="1444752"/>
            <a:ext cx="384048" cy="384048"/>
          </a:xfrm>
          <a:prstGeom prst="rect">
            <a:avLst/>
          </a:prstGeom>
          <a:solidFill>
            <a:srgbClr val="08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576" y="1408176"/>
            <a:ext cx="10287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083060"/>
                </a:solidFill>
                <a:latin typeface="Calibri"/>
              </a:rPr>
              <a:t>GO / CONDITIONAL / NO-GO bands conflict inside the Screening Framework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9576" y="1773936"/>
            <a:ext cx="10287000" cy="6522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 i="0">
                <a:solidFill>
                  <a:srgbClr val="222E3E"/>
                </a:solidFill>
                <a:latin typeface="Calibri"/>
              </a:rPr>
              <a:t>Slides 2 &amp; 5 state ≥80% GO · 65–79% CONDITIONAL · &lt;65% NO-GO. The slide-12 worked example uses ≥75 / 60–74 / &lt;60 and shows 77.8% → GO.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9576" y="2435352"/>
            <a:ext cx="10287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00B050"/>
                </a:solidFill>
                <a:latin typeface="Calibri"/>
              </a:rPr>
              <a:t>→ </a:t>
            </a:r>
            <a:r>
              <a:rPr sz="1100" b="1" i="0">
                <a:solidFill>
                  <a:srgbClr val="00B050"/>
                </a:solidFill>
                <a:latin typeface="Calibri"/>
              </a:rPr>
              <a:t>Decide one set of bands and delete the other. Prototype uses 80 / 65 (the stated rule).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029712"/>
            <a:ext cx="11155680" cy="1566672"/>
          </a:xfrm>
          <a:prstGeom prst="rect">
            <a:avLst/>
          </a:prstGeom>
          <a:solidFill>
            <a:srgbClr val="FFFFFF"/>
          </a:solidFill>
          <a:ln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029712"/>
            <a:ext cx="57150" cy="1566672"/>
          </a:xfrm>
          <a:prstGeom prst="rect">
            <a:avLst/>
          </a:prstGeom>
          <a:solidFill>
            <a:srgbClr val="106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7512" y="3176016"/>
            <a:ext cx="384048" cy="384048"/>
          </a:xfrm>
          <a:prstGeom prst="rect">
            <a:avLst/>
          </a:prstGeom>
          <a:solidFill>
            <a:srgbClr val="08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9576" y="3139440"/>
            <a:ext cx="10287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083060"/>
                </a:solidFill>
                <a:latin typeface="Calibri"/>
              </a:rPr>
              <a:t>Pillar E ('Ability to Fund') weight makes totals 105%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9576" y="3505200"/>
            <a:ext cx="10287000" cy="6522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 i="0">
                <a:solidFill>
                  <a:srgbClr val="222E3E"/>
                </a:solidFill>
                <a:latin typeface="Calibri"/>
              </a:rPr>
              <a:t>Screening Framework: 10% (weights total 100%). BD Process slide 8: 15% (totals 105%).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9576" y="4166616"/>
            <a:ext cx="10287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00B050"/>
                </a:solidFill>
                <a:latin typeface="Calibri"/>
              </a:rPr>
              <a:t>→ </a:t>
            </a:r>
            <a:r>
              <a:rPr sz="1100" b="1" i="0">
                <a:solidFill>
                  <a:srgbClr val="00B050"/>
                </a:solidFill>
                <a:latin typeface="Calibri"/>
              </a:rPr>
              <a:t>Fix the BD Process deck. Prototype uses 10%.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760976"/>
            <a:ext cx="11155680" cy="1566672"/>
          </a:xfrm>
          <a:prstGeom prst="rect">
            <a:avLst/>
          </a:prstGeom>
          <a:solidFill>
            <a:srgbClr val="FFFFFF"/>
          </a:solidFill>
          <a:ln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760976"/>
            <a:ext cx="57150" cy="1566672"/>
          </a:xfrm>
          <a:prstGeom prst="rect">
            <a:avLst/>
          </a:prstGeom>
          <a:solidFill>
            <a:srgbClr val="106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7512" y="4907280"/>
            <a:ext cx="384048" cy="384048"/>
          </a:xfrm>
          <a:prstGeom prst="rect">
            <a:avLst/>
          </a:prstGeom>
          <a:solidFill>
            <a:srgbClr val="08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9576" y="4870704"/>
            <a:ext cx="10287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083060"/>
                </a:solidFill>
                <a:latin typeface="Calibri"/>
              </a:rPr>
              <a:t>Pillar pass thresholds defined two different ways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9576" y="5236464"/>
            <a:ext cx="10287000" cy="6522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 i="0">
                <a:solidFill>
                  <a:srgbClr val="222E3E"/>
                </a:solidFill>
                <a:latin typeface="Calibri"/>
              </a:rPr>
              <a:t>Screening Framework: raw-sum minimums (e.g. Commercial ≥15 of 25). BD Process: per-pillar averages (≥3.5, credit ≥3). These are not equivalent.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9576" y="5897880"/>
            <a:ext cx="10287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00B050"/>
                </a:solidFill>
                <a:latin typeface="Calibri"/>
              </a:rPr>
              <a:t>→ </a:t>
            </a:r>
            <a:r>
              <a:rPr sz="1100" b="1" i="0">
                <a:solidFill>
                  <a:srgbClr val="00B050"/>
                </a:solidFill>
                <a:latin typeface="Calibri"/>
              </a:rPr>
              <a:t>Pick one convention. Prototype uses the raw-sum minimums.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0"/>
                </a:solidFill>
                <a:latin typeface="Calibri"/>
              </a:rPr>
              <a:t>DEL Commercial Platform — process document review · prototype/README.md holds the full detail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5B6B8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8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8100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e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46304"/>
            <a:ext cx="1646479" cy="6766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91440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9EC8F5"/>
                </a:solidFill>
                <a:latin typeface="Calibri"/>
              </a:rPr>
              <a:t>A · DIRECT CONFLICTS (2 OF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Vocabulary drifts across every document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98448"/>
            <a:ext cx="11155680" cy="1566672"/>
          </a:xfrm>
          <a:prstGeom prst="rect">
            <a:avLst/>
          </a:prstGeom>
          <a:solidFill>
            <a:srgbClr val="FFFFFF"/>
          </a:solidFill>
          <a:ln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57150" cy="1566672"/>
          </a:xfrm>
          <a:prstGeom prst="rect">
            <a:avLst/>
          </a:prstGeom>
          <a:solidFill>
            <a:srgbClr val="106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" y="1444752"/>
            <a:ext cx="384048" cy="384048"/>
          </a:xfrm>
          <a:prstGeom prst="rect">
            <a:avLst/>
          </a:prstGeom>
          <a:solidFill>
            <a:srgbClr val="08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576" y="1408176"/>
            <a:ext cx="10287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083060"/>
                </a:solidFill>
                <a:latin typeface="Calibri"/>
              </a:rPr>
              <a:t>“All 9 gates PASS” — but only 5 gates exist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9576" y="1773936"/>
            <a:ext cx="10287000" cy="6522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 i="0">
                <a:solidFill>
                  <a:srgbClr val="222E3E"/>
                </a:solidFill>
                <a:latin typeface="Calibri"/>
              </a:rPr>
              <a:t>The Screening Framework text says nine; five are defined, and the MTN memo assesses five (splitting Gate 02 into 02a/02b for two counterparties).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9576" y="2435352"/>
            <a:ext cx="10287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00B050"/>
                </a:solidFill>
                <a:latin typeface="Calibri"/>
              </a:rPr>
              <a:t>→ </a:t>
            </a:r>
            <a:r>
              <a:rPr sz="1100" b="1" i="0">
                <a:solidFill>
                  <a:srgbClr val="00B050"/>
                </a:solidFill>
                <a:latin typeface="Calibri"/>
              </a:rPr>
              <a:t>Correct the text; decide whether dual-counterparty deals formally split Gate 02.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029712"/>
            <a:ext cx="11155680" cy="1566672"/>
          </a:xfrm>
          <a:prstGeom prst="rect">
            <a:avLst/>
          </a:prstGeom>
          <a:solidFill>
            <a:srgbClr val="FFFFFF"/>
          </a:solidFill>
          <a:ln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029712"/>
            <a:ext cx="57150" cy="1566672"/>
          </a:xfrm>
          <a:prstGeom prst="rect">
            <a:avLst/>
          </a:prstGeom>
          <a:solidFill>
            <a:srgbClr val="106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7512" y="3176016"/>
            <a:ext cx="384048" cy="384048"/>
          </a:xfrm>
          <a:prstGeom prst="rect">
            <a:avLst/>
          </a:prstGeom>
          <a:solidFill>
            <a:srgbClr val="08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9576" y="3139440"/>
            <a:ext cx="10287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083060"/>
                </a:solidFill>
                <a:latin typeface="Calibri"/>
              </a:rPr>
              <a:t>Three different stage vocabularies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9576" y="3505200"/>
            <a:ext cx="10287000" cy="6522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 i="0">
                <a:solidFill>
                  <a:srgbClr val="222E3E"/>
                </a:solidFill>
                <a:latin typeface="Calibri"/>
              </a:rPr>
              <a:t>BD Process 11-step lifecycle vs the tracker's 13-stage dropdown vs the Screening Framework Day-0-to-Week-8 timeline — each names stages differently.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9576" y="4166616"/>
            <a:ext cx="10287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00B050"/>
                </a:solidFill>
                <a:latin typeface="Calibri"/>
              </a:rPr>
              <a:t>→ </a:t>
            </a:r>
            <a:r>
              <a:rPr sz="1100" b="1" i="0">
                <a:solidFill>
                  <a:srgbClr val="00B050"/>
                </a:solidFill>
                <a:latin typeface="Calibri"/>
              </a:rPr>
              <a:t>Adopt one canonical stage list. Prototype merges them into 17 stages across 5 phases.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760976"/>
            <a:ext cx="11155680" cy="1566672"/>
          </a:xfrm>
          <a:prstGeom prst="rect">
            <a:avLst/>
          </a:prstGeom>
          <a:solidFill>
            <a:srgbClr val="FFFFFF"/>
          </a:solidFill>
          <a:ln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760976"/>
            <a:ext cx="57150" cy="1566672"/>
          </a:xfrm>
          <a:prstGeom prst="rect">
            <a:avLst/>
          </a:prstGeom>
          <a:solidFill>
            <a:srgbClr val="106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7512" y="4907280"/>
            <a:ext cx="384048" cy="384048"/>
          </a:xfrm>
          <a:prstGeom prst="rect">
            <a:avLst/>
          </a:prstGeom>
          <a:solidFill>
            <a:srgbClr val="08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9576" y="4870704"/>
            <a:ext cx="10287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083060"/>
                </a:solidFill>
                <a:latin typeface="Calibri"/>
              </a:rPr>
              <a:t>Classification labels differ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9576" y="5236464"/>
            <a:ext cx="10287000" cy="6522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 i="0">
                <a:solidFill>
                  <a:srgbClr val="222E3E"/>
                </a:solidFill>
                <a:latin typeface="Calibri"/>
              </a:rPr>
              <a:t>BD Process: Active / Non-Active (Parked) / Rejected-Dropped. Tracker dashboard: Active / Converted / Nurture / Deferred / Rejected-Dead.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9576" y="5897880"/>
            <a:ext cx="10287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00B050"/>
                </a:solidFill>
                <a:latin typeface="Calibri"/>
              </a:rPr>
              <a:t>→ </a:t>
            </a:r>
            <a:r>
              <a:rPr sz="1100" b="1" i="0">
                <a:solidFill>
                  <a:srgbClr val="00B050"/>
                </a:solidFill>
                <a:latin typeface="Calibri"/>
              </a:rPr>
              <a:t>Standardise: Active · Nurture (parked + review date) · Deferred (external blocker) · Converted · Rejected/Dead.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0"/>
                </a:solidFill>
                <a:latin typeface="Calibri"/>
              </a:rPr>
              <a:t>DEL Commercial Platform — process document review · prototype/README.md holds the full detail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5B6B8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8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8100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e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46304"/>
            <a:ext cx="1646479" cy="6766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91440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9EC8F5"/>
                </a:solidFill>
                <a:latin typeface="Calibri"/>
              </a:rPr>
              <a:t>B · BLANKS &amp; ERRORS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Broken or missing pieces in the source material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98448"/>
            <a:ext cx="11155680" cy="1133856"/>
          </a:xfrm>
          <a:prstGeom prst="rect">
            <a:avLst/>
          </a:prstGeom>
          <a:solidFill>
            <a:srgbClr val="FFFFFF"/>
          </a:solidFill>
          <a:ln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57150" cy="1133856"/>
          </a:xfrm>
          <a:prstGeom prst="rect">
            <a:avLst/>
          </a:prstGeom>
          <a:solidFill>
            <a:srgbClr val="106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" y="1444752"/>
            <a:ext cx="384048" cy="384048"/>
          </a:xfrm>
          <a:prstGeom prst="rect">
            <a:avLst/>
          </a:prstGeom>
          <a:solidFill>
            <a:srgbClr val="08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576" y="1408176"/>
            <a:ext cx="10287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083060"/>
                </a:solidFill>
                <a:latin typeface="Calibri"/>
              </a:rPr>
              <a:t>'Guaranteed Minimum Offtake' has no scoring bands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9576" y="1773936"/>
            <a:ext cx="10287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 i="0">
                <a:solidFill>
                  <a:srgbClr val="222E3E"/>
                </a:solidFill>
                <a:latin typeface="Calibri"/>
              </a:rPr>
              <a:t>The sub-criterion exists in Pillar A but its 1/3/5 band definitions are blank.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9576" y="2002536"/>
            <a:ext cx="10287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00B050"/>
                </a:solidFill>
                <a:latin typeface="Calibri"/>
              </a:rPr>
              <a:t>→ </a:t>
            </a:r>
            <a:r>
              <a:rPr sz="1100" b="1" i="0">
                <a:solidFill>
                  <a:srgbClr val="00B050"/>
                </a:solidFill>
                <a:latin typeface="Calibri"/>
              </a:rPr>
              <a:t>Suggested: 1 = fully merchant · 3 = partial take-or-pay (&lt;70%) · 5 = take-or-pay ≥80%. Confirm.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596896"/>
            <a:ext cx="11155680" cy="1133856"/>
          </a:xfrm>
          <a:prstGeom prst="rect">
            <a:avLst/>
          </a:prstGeom>
          <a:solidFill>
            <a:srgbClr val="FFFFFF"/>
          </a:solidFill>
          <a:ln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596896"/>
            <a:ext cx="57150" cy="1133856"/>
          </a:xfrm>
          <a:prstGeom prst="rect">
            <a:avLst/>
          </a:prstGeom>
          <a:solidFill>
            <a:srgbClr val="106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7512" y="2743200"/>
            <a:ext cx="384048" cy="384048"/>
          </a:xfrm>
          <a:prstGeom prst="rect">
            <a:avLst/>
          </a:prstGeom>
          <a:solidFill>
            <a:srgbClr val="08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9576" y="2706624"/>
            <a:ext cx="10287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083060"/>
                </a:solidFill>
                <a:latin typeface="Calibri"/>
              </a:rPr>
              <a:t>'Tariff Competitiveness' band text is broken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9576" y="3072384"/>
            <a:ext cx="10287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 i="0">
                <a:solidFill>
                  <a:srgbClr val="222E3E"/>
                </a:solidFill>
                <a:latin typeface="Calibri"/>
              </a:rPr>
              <a:t>Score 1 and score 5 carry the same wording ('tariff &gt; customer's alternative'). Score 5 must be the opposite.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9576" y="3300984"/>
            <a:ext cx="10287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00B050"/>
                </a:solidFill>
                <a:latin typeface="Calibri"/>
              </a:rPr>
              <a:t>→ </a:t>
            </a:r>
            <a:r>
              <a:rPr sz="1100" b="1" i="0">
                <a:solidFill>
                  <a:srgbClr val="00B050"/>
                </a:solidFill>
                <a:latin typeface="Calibri"/>
              </a:rPr>
              <a:t>Fix the deck. Prototype: 5 = well below alternative (≥10% saving), consistent with Gate 04.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895344"/>
            <a:ext cx="11155680" cy="1133856"/>
          </a:xfrm>
          <a:prstGeom prst="rect">
            <a:avLst/>
          </a:prstGeom>
          <a:solidFill>
            <a:srgbClr val="FFFFFF"/>
          </a:solidFill>
          <a:ln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895344"/>
            <a:ext cx="57150" cy="1133856"/>
          </a:xfrm>
          <a:prstGeom prst="rect">
            <a:avLst/>
          </a:prstGeom>
          <a:solidFill>
            <a:srgbClr val="106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7512" y="4041648"/>
            <a:ext cx="384048" cy="384048"/>
          </a:xfrm>
          <a:prstGeom prst="rect">
            <a:avLst/>
          </a:prstGeom>
          <a:solidFill>
            <a:srgbClr val="08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9576" y="4005072"/>
            <a:ext cx="10287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083060"/>
                </a:solidFill>
                <a:latin typeface="Calibri"/>
              </a:rPr>
              <a:t>Tracker cannot compute its own KPIs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9576" y="4370832"/>
            <a:ext cx="10287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 i="0">
                <a:solidFill>
                  <a:srgbClr val="222E3E"/>
                </a:solidFill>
                <a:latin typeface="Calibri"/>
              </a:rPr>
              <a:t>Cycle Time column is all #REF! errors; Avg Cycle Time shows '-'; Date Received / Est. Revenue / Expected Conversion are almost entirely empty.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9576" y="4599432"/>
            <a:ext cx="10287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00B050"/>
                </a:solidFill>
                <a:latin typeface="Calibri"/>
              </a:rPr>
              <a:t>→ </a:t>
            </a:r>
            <a:r>
              <a:rPr sz="1100" b="1" i="0">
                <a:solidFill>
                  <a:srgbClr val="00B050"/>
                </a:solidFill>
                <a:latin typeface="Calibri"/>
              </a:rPr>
              <a:t>Repair formulas; make date-received mandatory at logging. Prototype captures these at intake.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193792"/>
            <a:ext cx="11155680" cy="1133856"/>
          </a:xfrm>
          <a:prstGeom prst="rect">
            <a:avLst/>
          </a:prstGeom>
          <a:solidFill>
            <a:srgbClr val="FFFFFF"/>
          </a:solidFill>
          <a:ln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5193792"/>
            <a:ext cx="57150" cy="1133856"/>
          </a:xfrm>
          <a:prstGeom prst="rect">
            <a:avLst/>
          </a:prstGeom>
          <a:solidFill>
            <a:srgbClr val="106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7512" y="5340096"/>
            <a:ext cx="384048" cy="384048"/>
          </a:xfrm>
          <a:prstGeom prst="rect">
            <a:avLst/>
          </a:prstGeom>
          <a:solidFill>
            <a:srgbClr val="08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9576" y="5303520"/>
            <a:ext cx="10287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083060"/>
                </a:solidFill>
                <a:latin typeface="Calibri"/>
              </a:rPr>
              <a:t>Screening timeline step 4 is unlabelled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9576" y="5669280"/>
            <a:ext cx="10287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 i="0">
                <a:solidFill>
                  <a:srgbClr val="222E3E"/>
                </a:solidFill>
                <a:latin typeface="Calibri"/>
              </a:rPr>
              <a:t>Slide 13 of the Screening Framework has a blank box in the Day 0 → Week 8 timeline.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9576" y="5897880"/>
            <a:ext cx="10287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00B050"/>
                </a:solidFill>
                <a:latin typeface="Calibri"/>
              </a:rPr>
              <a:t>→ </a:t>
            </a:r>
            <a:r>
              <a:rPr sz="1100" b="1" i="0">
                <a:solidFill>
                  <a:srgbClr val="00B050"/>
                </a:solidFill>
                <a:latin typeface="Calibri"/>
              </a:rPr>
              <a:t>Prototype assumes it is the full due-diligence workstream step. Confirm and label.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0"/>
                </a:solidFill>
                <a:latin typeface="Calibri"/>
              </a:rPr>
              <a:t>DEL Commercial Platform — process document review · prototype/README.md holds the full detail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5B6B8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8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8100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e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46304"/>
            <a:ext cx="1646479" cy="6766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91440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9EC8F5"/>
                </a:solidFill>
                <a:latin typeface="Calibri"/>
              </a:rPr>
              <a:t>C · NOT YET STANDARDISED (1 OF 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Rules applied informally today — defaults supplied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98448"/>
            <a:ext cx="11155680" cy="1566672"/>
          </a:xfrm>
          <a:prstGeom prst="rect">
            <a:avLst/>
          </a:prstGeom>
          <a:solidFill>
            <a:srgbClr val="FFFFFF"/>
          </a:solidFill>
          <a:ln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57150" cy="1566672"/>
          </a:xfrm>
          <a:prstGeom prst="rect">
            <a:avLst/>
          </a:prstGeom>
          <a:solidFill>
            <a:srgbClr val="106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" y="1444752"/>
            <a:ext cx="384048" cy="384048"/>
          </a:xfrm>
          <a:prstGeom prst="rect">
            <a:avLst/>
          </a:prstGeom>
          <a:solidFill>
            <a:srgbClr val="08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576" y="1408176"/>
            <a:ext cx="10287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083060"/>
                </a:solidFill>
                <a:latin typeface="Calibri"/>
              </a:rPr>
              <a:t>No published IRR hurdle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9576" y="1773936"/>
            <a:ext cx="10287000" cy="6522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 i="0">
                <a:solidFill>
                  <a:srgbClr val="222E3E"/>
                </a:solidFill>
                <a:latin typeface="Calibri"/>
              </a:rPr>
              <a:t>Gate 04 says 'IRR ≥ hurdle' but no hurdle appears anywhere. Pillar D implies 18–22% is mid-band.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9576" y="2435352"/>
            <a:ext cx="10287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00B050"/>
                </a:solidFill>
                <a:latin typeface="Calibri"/>
              </a:rPr>
              <a:t>→ </a:t>
            </a:r>
            <a:r>
              <a:rPr sz="1100" b="1" i="0">
                <a:solidFill>
                  <a:srgbClr val="00B050"/>
                </a:solidFill>
                <a:latin typeface="Calibri"/>
              </a:rPr>
              <a:t>Publish one number. Suggested: 18% floor at knockout; 22%+ scores strongly.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029712"/>
            <a:ext cx="11155680" cy="1566672"/>
          </a:xfrm>
          <a:prstGeom prst="rect">
            <a:avLst/>
          </a:prstGeom>
          <a:solidFill>
            <a:srgbClr val="FFFFFF"/>
          </a:solidFill>
          <a:ln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029712"/>
            <a:ext cx="57150" cy="1566672"/>
          </a:xfrm>
          <a:prstGeom prst="rect">
            <a:avLst/>
          </a:prstGeom>
          <a:solidFill>
            <a:srgbClr val="106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7512" y="3176016"/>
            <a:ext cx="384048" cy="384048"/>
          </a:xfrm>
          <a:prstGeom prst="rect">
            <a:avLst/>
          </a:prstGeom>
          <a:solidFill>
            <a:srgbClr val="08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9576" y="3139440"/>
            <a:ext cx="10287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083060"/>
                </a:solidFill>
                <a:latin typeface="Calibri"/>
              </a:rPr>
              <a:t>Knockout 'CONDITIONAL PASS' is informal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9576" y="3505200"/>
            <a:ext cx="10287000" cy="6522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 i="0">
                <a:solidFill>
                  <a:srgbClr val="222E3E"/>
                </a:solidFill>
                <a:latin typeface="Calibri"/>
              </a:rPr>
              <a:t>The framework is binary PASS/FAIL, but the MTN memo — real practice — uses CONDITIONAL PASS per gate and an overall CONDITIONAL GO.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9576" y="4166616"/>
            <a:ext cx="10287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00B050"/>
                </a:solidFill>
                <a:latin typeface="Calibri"/>
              </a:rPr>
              <a:t>→ </a:t>
            </a:r>
            <a:r>
              <a:rPr sz="1100" b="1" i="0">
                <a:solidFill>
                  <a:srgbClr val="00B050"/>
                </a:solidFill>
                <a:latin typeface="Calibri"/>
              </a:rPr>
              <a:t>Ratify: any FAIL → auto NO-GO; any CONDITIONAL → advance flagged with conditions logged until resolved.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760976"/>
            <a:ext cx="11155680" cy="1566672"/>
          </a:xfrm>
          <a:prstGeom prst="rect">
            <a:avLst/>
          </a:prstGeom>
          <a:solidFill>
            <a:srgbClr val="FFFFFF"/>
          </a:solidFill>
          <a:ln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760976"/>
            <a:ext cx="57150" cy="1566672"/>
          </a:xfrm>
          <a:prstGeom prst="rect">
            <a:avLst/>
          </a:prstGeom>
          <a:solidFill>
            <a:srgbClr val="106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7512" y="4907280"/>
            <a:ext cx="384048" cy="384048"/>
          </a:xfrm>
          <a:prstGeom prst="rect">
            <a:avLst/>
          </a:prstGeom>
          <a:solidFill>
            <a:srgbClr val="08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9576" y="4870704"/>
            <a:ext cx="10287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083060"/>
                </a:solidFill>
                <a:latin typeface="Calibri"/>
              </a:rPr>
              <a:t>Finder / Sales Agent commercial terms unset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9576" y="5236464"/>
            <a:ext cx="10287000" cy="6522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 i="0">
                <a:solidFill>
                  <a:srgbClr val="222E3E"/>
                </a:solidFill>
                <a:latin typeface="Calibri"/>
              </a:rPr>
              <a:t>The programme defines the flow (submit → register-first → knockout → feedback → success fee) but no fee bands, protection window, or non-circumvention tenor.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9576" y="5897880"/>
            <a:ext cx="10287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00B050"/>
                </a:solidFill>
                <a:latin typeface="Calibri"/>
              </a:rPr>
              <a:t>→ </a:t>
            </a:r>
            <a:r>
              <a:rPr sz="1100" b="1" i="0">
                <a:solidFill>
                  <a:srgbClr val="00B050"/>
                </a:solidFill>
                <a:latin typeface="Calibri"/>
              </a:rPr>
              <a:t>Suggested: 90-day protection · 24-month non-circumvention · fee only on conversion (1–3% of first-year revenue or ₦/kW schedule).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0"/>
                </a:solidFill>
                <a:latin typeface="Calibri"/>
              </a:rPr>
              <a:t>DEL Commercial Platform — process document review · prototype/README.md holds the full detail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5B6B8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8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8100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e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46304"/>
            <a:ext cx="1646479" cy="6766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91440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9EC8F5"/>
                </a:solidFill>
                <a:latin typeface="Calibri"/>
              </a:rPr>
              <a:t>C · NOT YET STANDARDISED (2 OF 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Roles, cadence and thresholds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98448"/>
            <a:ext cx="11155680" cy="1566672"/>
          </a:xfrm>
          <a:prstGeom prst="rect">
            <a:avLst/>
          </a:prstGeom>
          <a:solidFill>
            <a:srgbClr val="FFFFFF"/>
          </a:solidFill>
          <a:ln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57150" cy="1566672"/>
          </a:xfrm>
          <a:prstGeom prst="rect">
            <a:avLst/>
          </a:prstGeom>
          <a:solidFill>
            <a:srgbClr val="106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" y="1444752"/>
            <a:ext cx="384048" cy="384048"/>
          </a:xfrm>
          <a:prstGeom prst="rect">
            <a:avLst/>
          </a:prstGeom>
          <a:solidFill>
            <a:srgbClr val="08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576" y="1408176"/>
            <a:ext cx="10287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083060"/>
                </a:solidFill>
                <a:latin typeface="Calibri"/>
              </a:rPr>
              <a:t>Sales Agent vs Business Developer boundary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9576" y="1773936"/>
            <a:ext cx="10287000" cy="6522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 i="0">
                <a:solidFill>
                  <a:srgbClr val="222E3E"/>
                </a:solidFill>
                <a:latin typeface="Calibri"/>
              </a:rPr>
              <a:t>New actor. Proposed: a BD is DEL staff owning the opportunity end-to-end; a Sales Agent is an outsourced originator — same intake standard, no pricing / structuring / negotiation authority, paid only on success.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9576" y="2435352"/>
            <a:ext cx="10287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00B050"/>
                </a:solidFill>
                <a:latin typeface="Calibri"/>
              </a:rPr>
              <a:t>→ </a:t>
            </a:r>
            <a:r>
              <a:rPr sz="1100" b="1" i="0">
                <a:solidFill>
                  <a:srgbClr val="00B050"/>
                </a:solidFill>
                <a:latin typeface="Calibri"/>
              </a:rPr>
              <a:t>Confirm the role boundary as defined in the prototype's Agents page.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029712"/>
            <a:ext cx="11155680" cy="1566672"/>
          </a:xfrm>
          <a:prstGeom prst="rect">
            <a:avLst/>
          </a:prstGeom>
          <a:solidFill>
            <a:srgbClr val="FFFFFF"/>
          </a:solidFill>
          <a:ln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029712"/>
            <a:ext cx="57150" cy="1566672"/>
          </a:xfrm>
          <a:prstGeom prst="rect">
            <a:avLst/>
          </a:prstGeom>
          <a:solidFill>
            <a:srgbClr val="106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7512" y="3176016"/>
            <a:ext cx="384048" cy="384048"/>
          </a:xfrm>
          <a:prstGeom prst="rect">
            <a:avLst/>
          </a:prstGeom>
          <a:solidFill>
            <a:srgbClr val="08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9576" y="3139440"/>
            <a:ext cx="10287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083060"/>
                </a:solidFill>
                <a:latin typeface="Calibri"/>
              </a:rPr>
              <a:t>No periodic-review cadence for parked items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9576" y="3505200"/>
            <a:ext cx="10287000" cy="6522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 i="0">
                <a:solidFill>
                  <a:srgbClr val="222E3E"/>
                </a:solidFill>
                <a:latin typeface="Calibri"/>
              </a:rPr>
              <a:t>'Periodic review' is mentioned with no interval or forcing decision.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9576" y="4166616"/>
            <a:ext cx="10287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00B050"/>
                </a:solidFill>
                <a:latin typeface="Calibri"/>
              </a:rPr>
              <a:t>→ </a:t>
            </a:r>
            <a:r>
              <a:rPr sz="1100" b="1" i="0">
                <a:solidFill>
                  <a:srgbClr val="00B050"/>
                </a:solidFill>
                <a:latin typeface="Calibri"/>
              </a:rPr>
              <a:t>Suggested: every 90 days with a forced Activate / Keep parked / Drop decision.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760976"/>
            <a:ext cx="11155680" cy="1566672"/>
          </a:xfrm>
          <a:prstGeom prst="rect">
            <a:avLst/>
          </a:prstGeom>
          <a:solidFill>
            <a:srgbClr val="FFFFFF"/>
          </a:solidFill>
          <a:ln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760976"/>
            <a:ext cx="57150" cy="1566672"/>
          </a:xfrm>
          <a:prstGeom prst="rect">
            <a:avLst/>
          </a:prstGeom>
          <a:solidFill>
            <a:srgbClr val="106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7512" y="4907280"/>
            <a:ext cx="384048" cy="384048"/>
          </a:xfrm>
          <a:prstGeom prst="rect">
            <a:avLst/>
          </a:prstGeom>
          <a:solidFill>
            <a:srgbClr val="08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9576" y="4870704"/>
            <a:ext cx="10287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083060"/>
                </a:solidFill>
                <a:latin typeface="Calibri"/>
              </a:rPr>
              <a:t>Minimum opportunity size only defined for finders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9576" y="5236464"/>
            <a:ext cx="10287000" cy="6522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 i="0">
                <a:solidFill>
                  <a:srgbClr val="222E3E"/>
                </a:solidFill>
                <a:latin typeface="Calibri"/>
              </a:rPr>
              <a:t>~200–300 kW appears only in the finder programme. Unclear if it binds direct-BD leads.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9576" y="5897880"/>
            <a:ext cx="10287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00B050"/>
                </a:solidFill>
                <a:latin typeface="Calibri"/>
              </a:rPr>
              <a:t>→ </a:t>
            </a:r>
            <a:r>
              <a:rPr sz="1100" b="1" i="0">
                <a:solidFill>
                  <a:srgbClr val="00B050"/>
                </a:solidFill>
                <a:latin typeface="Calibri"/>
              </a:rPr>
              <a:t>Decide scope. Prototype treats it as Gate 01 guidance, not a hard block.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0"/>
                </a:solidFill>
                <a:latin typeface="Calibri"/>
              </a:rPr>
              <a:t>DEL Commercial Platform — process document review · prototype/README.md holds the full detail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5B6B8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8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8100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e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46304"/>
            <a:ext cx="1646479" cy="6766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91440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9EC8F5"/>
                </a:solidFill>
                <a:latin typeface="Calibri"/>
              </a:rPr>
              <a:t>C · NOT YET STANDARDISED (3 OF 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Ownership and standard outputs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98448"/>
            <a:ext cx="11155680" cy="1133856"/>
          </a:xfrm>
          <a:prstGeom prst="rect">
            <a:avLst/>
          </a:prstGeom>
          <a:solidFill>
            <a:srgbClr val="FFFFFF"/>
          </a:solidFill>
          <a:ln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57150" cy="1133856"/>
          </a:xfrm>
          <a:prstGeom prst="rect">
            <a:avLst/>
          </a:prstGeom>
          <a:solidFill>
            <a:srgbClr val="106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" y="1444752"/>
            <a:ext cx="384048" cy="384048"/>
          </a:xfrm>
          <a:prstGeom prst="rect">
            <a:avLst/>
          </a:prstGeom>
          <a:solidFill>
            <a:srgbClr val="08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576" y="1408176"/>
            <a:ext cx="10287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083060"/>
                </a:solidFill>
                <a:latin typeface="Calibri"/>
              </a:rPr>
              <a:t>'BD Team' is not an owner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9576" y="1773936"/>
            <a:ext cx="10287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 i="0">
                <a:solidFill>
                  <a:srgbClr val="222E3E"/>
                </a:solidFill>
                <a:latin typeface="Calibri"/>
              </a:rPr>
              <a:t>Most tracker rows are owned by the group, so nothing has a single accountable name.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9576" y="2002536"/>
            <a:ext cx="10287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00B050"/>
                </a:solidFill>
                <a:latin typeface="Calibri"/>
              </a:rPr>
              <a:t>→ </a:t>
            </a:r>
            <a:r>
              <a:rPr sz="1100" b="1" i="0">
                <a:solidFill>
                  <a:srgbClr val="00B050"/>
                </a:solidFill>
                <a:latin typeface="Calibri"/>
              </a:rPr>
              <a:t>One named owner per opportunity + an escalation point. Prototype intake requires 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596896"/>
            <a:ext cx="11155680" cy="1133856"/>
          </a:xfrm>
          <a:prstGeom prst="rect">
            <a:avLst/>
          </a:prstGeom>
          <a:solidFill>
            <a:srgbClr val="FFFFFF"/>
          </a:solidFill>
          <a:ln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596896"/>
            <a:ext cx="57150" cy="1133856"/>
          </a:xfrm>
          <a:prstGeom prst="rect">
            <a:avLst/>
          </a:prstGeom>
          <a:solidFill>
            <a:srgbClr val="106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7512" y="2743200"/>
            <a:ext cx="384048" cy="384048"/>
          </a:xfrm>
          <a:prstGeom prst="rect">
            <a:avLst/>
          </a:prstGeom>
          <a:solidFill>
            <a:srgbClr val="08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9576" y="2706624"/>
            <a:ext cx="10287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083060"/>
                </a:solidFill>
                <a:latin typeface="Calibri"/>
              </a:rPr>
              <a:t>No decline-letter template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9576" y="3072384"/>
            <a:ext cx="10287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 i="0">
                <a:solidFill>
                  <a:srgbClr val="222E3E"/>
                </a:solidFill>
                <a:latin typeface="Calibri"/>
              </a:rPr>
              <a:t>The framework requires a decline letter + logged rationale on every NO-GO, but no template exists.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9576" y="3300984"/>
            <a:ext cx="10287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00B050"/>
                </a:solidFill>
                <a:latin typeface="Calibri"/>
              </a:rPr>
              <a:t>→ </a:t>
            </a:r>
            <a:r>
              <a:rPr sz="1100" b="1" i="0">
                <a:solidFill>
                  <a:srgbClr val="00B050"/>
                </a:solidFill>
                <a:latin typeface="Calibri"/>
              </a:rPr>
              <a:t>Adopt one. The prototype auto-generates a letter from the logged rationale (see OPP-1006).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895344"/>
            <a:ext cx="11155680" cy="1133856"/>
          </a:xfrm>
          <a:prstGeom prst="rect">
            <a:avLst/>
          </a:prstGeom>
          <a:solidFill>
            <a:srgbClr val="FFFFFF"/>
          </a:solidFill>
          <a:ln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895344"/>
            <a:ext cx="57150" cy="1133856"/>
          </a:xfrm>
          <a:prstGeom prst="rect">
            <a:avLst/>
          </a:prstGeom>
          <a:solidFill>
            <a:srgbClr val="106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7512" y="4041648"/>
            <a:ext cx="384048" cy="384048"/>
          </a:xfrm>
          <a:prstGeom prst="rect">
            <a:avLst/>
          </a:prstGeom>
          <a:solidFill>
            <a:srgbClr val="08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9576" y="4005072"/>
            <a:ext cx="10287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083060"/>
                </a:solidFill>
                <a:latin typeface="Calibri"/>
              </a:rPr>
              <a:t>No handover checklist at contract signing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9576" y="4370832"/>
            <a:ext cx="10287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 i="0">
                <a:solidFill>
                  <a:srgbClr val="222E3E"/>
                </a:solidFill>
                <a:latin typeface="Calibri"/>
              </a:rPr>
              <a:t>The BD → Commercial Operations handover point is fixed, but its contents are not.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9576" y="4599432"/>
            <a:ext cx="10287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00B050"/>
                </a:solidFill>
                <a:latin typeface="Calibri"/>
              </a:rPr>
              <a:t>→ </a:t>
            </a:r>
            <a:r>
              <a:rPr sz="1100" b="1" i="0">
                <a:solidFill>
                  <a:srgbClr val="00B050"/>
                </a:solidFill>
                <a:latin typeface="Calibri"/>
              </a:rPr>
              <a:t>Adopt a handover pack: contract, tariff schedule, KYC file, metering plan, contacts.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193792"/>
            <a:ext cx="11155680" cy="1133856"/>
          </a:xfrm>
          <a:prstGeom prst="rect">
            <a:avLst/>
          </a:prstGeom>
          <a:solidFill>
            <a:srgbClr val="FFFFFF"/>
          </a:solidFill>
          <a:ln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5193792"/>
            <a:ext cx="57150" cy="1133856"/>
          </a:xfrm>
          <a:prstGeom prst="rect">
            <a:avLst/>
          </a:prstGeom>
          <a:solidFill>
            <a:srgbClr val="106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7512" y="5340096"/>
            <a:ext cx="384048" cy="384048"/>
          </a:xfrm>
          <a:prstGeom prst="rect">
            <a:avLst/>
          </a:prstGeom>
          <a:solidFill>
            <a:srgbClr val="08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9576" y="5303520"/>
            <a:ext cx="10287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083060"/>
                </a:solidFill>
                <a:latin typeface="Calibri"/>
              </a:rPr>
              <a:t>No standard screening memo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9576" y="5669280"/>
            <a:ext cx="10287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 i="0">
                <a:solidFill>
                  <a:srgbClr val="222E3E"/>
                </a:solidFill>
                <a:latin typeface="Calibri"/>
              </a:rPr>
              <a:t>The MTN memo is excellent but ad-hoc.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9576" y="5897880"/>
            <a:ext cx="10287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00B050"/>
                </a:solidFill>
                <a:latin typeface="Calibri"/>
              </a:rPr>
              <a:t>→ </a:t>
            </a:r>
            <a:r>
              <a:rPr sz="1100" b="1" i="0">
                <a:solidFill>
                  <a:srgbClr val="00B050"/>
                </a:solidFill>
                <a:latin typeface="Calibri"/>
              </a:rPr>
              <a:t>Make it the standard output of every knockout screening. The prototype auto-generates it.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0"/>
                </a:solidFill>
                <a:latin typeface="Calibri"/>
              </a:rPr>
              <a:t>DEL Commercial Platform — process document review · prototype/README.md holds the full detail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5B6B8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8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8100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e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46304"/>
            <a:ext cx="1646479" cy="6766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91440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9EC8F5"/>
                </a:solidFill>
                <a:latin typeface="Calibri"/>
              </a:rPr>
              <a:t>NAMING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“Deal” → “Opportunity” (recommended)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11155680" cy="1371600"/>
          </a:xfrm>
          <a:prstGeom prst="rect">
            <a:avLst/>
          </a:prstGeom>
          <a:solidFill>
            <a:srgbClr val="EF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36192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0" i="0">
                <a:solidFill>
                  <a:srgbClr val="222E3E"/>
                </a:solidFill>
                <a:latin typeface="Calibri"/>
              </a:rPr>
              <a:t>The evidence is already in DEL's own files: </a:t>
            </a:r>
            <a:r>
              <a:rPr sz="1450" b="1" i="0">
                <a:solidFill>
                  <a:srgbClr val="083060"/>
                </a:solidFill>
                <a:latin typeface="Calibri"/>
              </a:rPr>
              <a:t>the Commercial Department Tracker titles its main sheet “Opportunity Pipeline Tracker” and numbers records OPP-001…OPP-022</a:t>
            </a:r>
            <a:r>
              <a:rPr sz="1450" b="0" i="0">
                <a:solidFill>
                  <a:srgbClr val="222E3E"/>
                </a:solidFill>
                <a:latin typeface="Calibri"/>
              </a:rPr>
              <a:t> — while the screening deck says “deal”.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10698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1" i="0">
                <a:solidFill>
                  <a:srgbClr val="00B050"/>
                </a:solidFill>
                <a:latin typeface="Calibri"/>
              </a:rPr>
              <a:t>●  </a:t>
            </a:r>
            <a:r>
              <a:rPr sz="1350" b="1" i="0">
                <a:solidFill>
                  <a:srgbClr val="083060"/>
                </a:solidFill>
                <a:latin typeface="Calibri"/>
              </a:rPr>
              <a:t>Opportunity — </a:t>
            </a:r>
            <a:r>
              <a:rPr sz="1350" b="0" i="0">
                <a:solidFill>
                  <a:srgbClr val="222E3E"/>
                </a:solidFill>
                <a:latin typeface="Calibri"/>
              </a:rPr>
              <a:t>the pipeline record from lead to contract signing. Standard CRM/B2B term (Salesforce, HubSpot, Dynamics); covers ventures, clusters and collaborations that 'deal' fits awkwardly.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58768"/>
            <a:ext cx="10698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1" i="0">
                <a:solidFill>
                  <a:srgbClr val="00B050"/>
                </a:solidFill>
                <a:latin typeface="Calibri"/>
              </a:rPr>
              <a:t>●  </a:t>
            </a:r>
            <a:r>
              <a:rPr sz="1350" b="1" i="0">
                <a:solidFill>
                  <a:srgbClr val="083060"/>
                </a:solidFill>
                <a:latin typeface="Calibri"/>
              </a:rPr>
              <a:t>Customer / Contract — </a:t>
            </a:r>
            <a:r>
              <a:rPr sz="1350" b="0" i="0">
                <a:solidFill>
                  <a:srgbClr val="222E3E"/>
                </a:solidFill>
                <a:latin typeface="Calibri"/>
              </a:rPr>
              <a:t>what an opportunity becomes after signing, when it moves to Commercial Operations.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700016"/>
            <a:ext cx="10698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1" i="0">
                <a:solidFill>
                  <a:srgbClr val="00B050"/>
                </a:solidFill>
                <a:latin typeface="Calibri"/>
              </a:rPr>
              <a:t>●  </a:t>
            </a:r>
            <a:r>
              <a:rPr sz="1350" b="1" i="0">
                <a:solidFill>
                  <a:srgbClr val="083060"/>
                </a:solidFill>
                <a:latin typeface="Calibri"/>
              </a:rPr>
              <a:t>Document titles — </a:t>
            </a:r>
            <a:r>
              <a:rPr sz="1350" b="0" i="0">
                <a:solidFill>
                  <a:srgbClr val="222E3E"/>
                </a:solidFill>
                <a:latin typeface="Calibri"/>
              </a:rPr>
              <a:t>'Deal Screening Framework' can keep its name — but the system, IDs and reports should say Opportunity.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632704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5B6B80"/>
                </a:solidFill>
                <a:latin typeface="Calibri"/>
              </a:rPr>
              <a:t>The prototype uses Opportunity throughout (OPP-xxxx).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0"/>
                </a:solidFill>
                <a:latin typeface="Calibri"/>
              </a:rPr>
              <a:t>DEL Commercial Platform — process document review · prototype/README.md holds the full detail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5B6B8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8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8100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e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46304"/>
            <a:ext cx="1646479" cy="6766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91440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9EC8F5"/>
                </a:solidFill>
                <a:latin typeface="Calibri"/>
              </a:rPr>
              <a:t>D · INTAKE ADDITIONS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Capture screening evidence once — at the door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0700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B6B80"/>
                </a:solidFill>
                <a:latin typeface="Calibri"/>
              </a:rPr>
              <a:t>The current intake captures identity + headline economics. Added in the prototype (marked 'suggested' in the form):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11155680" cy="786384"/>
          </a:xfrm>
          <a:prstGeom prst="rect">
            <a:avLst/>
          </a:prstGeom>
          <a:solidFill>
            <a:srgbClr val="FFFFFF"/>
          </a:solidFill>
          <a:ln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57150" cy="786384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65376"/>
            <a:ext cx="3017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83060"/>
                </a:solidFill>
                <a:latin typeface="Calibri"/>
              </a:rPr>
              <a:t>Site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865376"/>
            <a:ext cx="74980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222E3E"/>
                </a:solidFill>
                <a:latin typeface="Calibri"/>
              </a:rPr>
              <a:t>Address / coordinates — site visits, logistics.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679192"/>
            <a:ext cx="11155680" cy="786384"/>
          </a:xfrm>
          <a:prstGeom prst="rect">
            <a:avLst/>
          </a:prstGeom>
          <a:solidFill>
            <a:srgbClr val="FFFFFF"/>
          </a:solidFill>
          <a:ln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679192"/>
            <a:ext cx="57150" cy="786384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761488"/>
            <a:ext cx="3017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83060"/>
                </a:solidFill>
                <a:latin typeface="Calibri"/>
              </a:rPr>
              <a:t>Contacts &amp; buying process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761488"/>
            <a:ext cx="74980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222E3E"/>
                </a:solidFill>
                <a:latin typeface="Calibri"/>
              </a:rPr>
              <a:t>Primary contact, decision maker, approval chain — deals stall on unmapped decision chains.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575304"/>
            <a:ext cx="11155680" cy="786384"/>
          </a:xfrm>
          <a:prstGeom prst="rect">
            <a:avLst/>
          </a:prstGeom>
          <a:solidFill>
            <a:srgbClr val="FFFFFF"/>
          </a:solidFill>
          <a:ln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575304"/>
            <a:ext cx="57150" cy="786384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657600"/>
            <a:ext cx="3017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83060"/>
                </a:solidFill>
                <a:latin typeface="Calibri"/>
              </a:rPr>
              <a:t>Demand baseline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3657600"/>
            <a:ext cx="74980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222E3E"/>
                </a:solidFill>
                <a:latin typeface="Calibri"/>
              </a:rPr>
              <a:t>Current supply, effective tariff, monthly spend, load profile, metering-data availability — the evidence Gates 01 &amp; 04 need.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471416"/>
            <a:ext cx="11155680" cy="786384"/>
          </a:xfrm>
          <a:prstGeom prst="rect">
            <a:avLst/>
          </a:prstGeom>
          <a:solidFill>
            <a:srgbClr val="FFFFFF"/>
          </a:solidFill>
          <a:ln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471416"/>
            <a:ext cx="57150" cy="786384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553712"/>
            <a:ext cx="3017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83060"/>
                </a:solidFill>
                <a:latin typeface="Calibri"/>
              </a:rPr>
              <a:t>Qualification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4553712"/>
            <a:ext cx="74980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222E3E"/>
                </a:solidFill>
                <a:latin typeface="Calibri"/>
              </a:rPr>
              <a:t>Expected close date, probability %, competition, key risks — enables weighted pipeline value and cycle-time KPIs.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367528"/>
            <a:ext cx="11155680" cy="786384"/>
          </a:xfrm>
          <a:prstGeom prst="rect">
            <a:avLst/>
          </a:prstGeom>
          <a:solidFill>
            <a:srgbClr val="FFFFFF"/>
          </a:solidFill>
          <a:ln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5367528"/>
            <a:ext cx="57150" cy="786384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449824"/>
            <a:ext cx="3017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83060"/>
                </a:solidFill>
                <a:latin typeface="Calibri"/>
              </a:rPr>
              <a:t>Attribution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5449824"/>
            <a:ext cx="74980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222E3E"/>
                </a:solidFill>
                <a:latin typeface="Calibri"/>
              </a:rPr>
              <a:t>Source + registered finder link, with the register-first rule enforced at intake.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0"/>
                </a:solidFill>
                <a:latin typeface="Calibri"/>
              </a:rPr>
              <a:t>DEL Commercial Platform — process document review · prototype/README.md holds the full detail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5B6B8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8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8100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e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46304"/>
            <a:ext cx="1646479" cy="6766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91440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9EC8F5"/>
                </a:solidFill>
                <a:latin typeface="Calibri"/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Ten decisions that unlock standardisation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5440680" cy="713232"/>
          </a:xfrm>
          <a:prstGeom prst="rect">
            <a:avLst/>
          </a:prstGeom>
          <a:solidFill>
            <a:srgbClr val="EF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2648" y="1554480"/>
            <a:ext cx="420624" cy="420624"/>
          </a:xfrm>
          <a:prstGeom prst="rect">
            <a:avLst/>
          </a:prstGeom>
          <a:solidFill>
            <a:srgbClr val="08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1490472"/>
            <a:ext cx="461772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22E3E"/>
                </a:solidFill>
                <a:latin typeface="Calibri"/>
              </a:rPr>
              <a:t>Verdict bands: 80/65 or 75/60 (finding 1)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58568"/>
            <a:ext cx="5440680" cy="713232"/>
          </a:xfrm>
          <a:prstGeom prst="rect">
            <a:avLst/>
          </a:prstGeom>
          <a:solidFill>
            <a:srgbClr val="EF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" y="2395728"/>
            <a:ext cx="420624" cy="420624"/>
          </a:xfrm>
          <a:prstGeom prst="rect">
            <a:avLst/>
          </a:prstGeom>
          <a:solidFill>
            <a:srgbClr val="08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2331720"/>
            <a:ext cx="461772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22E3E"/>
                </a:solidFill>
                <a:latin typeface="Calibri"/>
              </a:rPr>
              <a:t>Pillar E weight: 10% (finding 2)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099816"/>
            <a:ext cx="5440680" cy="713232"/>
          </a:xfrm>
          <a:prstGeom prst="rect">
            <a:avLst/>
          </a:prstGeom>
          <a:solidFill>
            <a:srgbClr val="EF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" y="3236976"/>
            <a:ext cx="420624" cy="420624"/>
          </a:xfrm>
          <a:prstGeom prst="rect">
            <a:avLst/>
          </a:prstGeom>
          <a:solidFill>
            <a:srgbClr val="08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" y="3172968"/>
            <a:ext cx="461772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22E3E"/>
                </a:solidFill>
                <a:latin typeface="Calibri"/>
              </a:rPr>
              <a:t>Pillar minimums: raw-sum or average (finding 3)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941064"/>
            <a:ext cx="5440680" cy="713232"/>
          </a:xfrm>
          <a:prstGeom prst="rect">
            <a:avLst/>
          </a:prstGeom>
          <a:solidFill>
            <a:srgbClr val="EF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" y="4078224"/>
            <a:ext cx="420624" cy="420624"/>
          </a:xfrm>
          <a:prstGeom prst="rect">
            <a:avLst/>
          </a:prstGeom>
          <a:solidFill>
            <a:srgbClr val="08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1288" y="4014216"/>
            <a:ext cx="461772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22E3E"/>
                </a:solidFill>
                <a:latin typeface="Calibri"/>
              </a:rPr>
              <a:t>One canonical stage list &amp; classifications (5, 6)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782312"/>
            <a:ext cx="5440680" cy="713232"/>
          </a:xfrm>
          <a:prstGeom prst="rect">
            <a:avLst/>
          </a:prstGeom>
          <a:solidFill>
            <a:srgbClr val="EF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" y="4919472"/>
            <a:ext cx="420624" cy="420624"/>
          </a:xfrm>
          <a:prstGeom prst="rect">
            <a:avLst/>
          </a:prstGeom>
          <a:solidFill>
            <a:srgbClr val="08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1288" y="4855464"/>
            <a:ext cx="461772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22E3E"/>
                </a:solidFill>
                <a:latin typeface="Calibri"/>
              </a:rPr>
              <a:t>Offtake + tariff scoring bands (7, 8)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417320"/>
            <a:ext cx="5440680" cy="713232"/>
          </a:xfrm>
          <a:prstGeom prst="rect">
            <a:avLst/>
          </a:prstGeom>
          <a:solidFill>
            <a:srgbClr val="EF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27648" y="1554480"/>
            <a:ext cx="420624" cy="420624"/>
          </a:xfrm>
          <a:prstGeom prst="rect">
            <a:avLst/>
          </a:prstGeom>
          <a:solidFill>
            <a:srgbClr val="08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6288" y="1490472"/>
            <a:ext cx="461772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22E3E"/>
                </a:solidFill>
                <a:latin typeface="Calibri"/>
              </a:rPr>
              <a:t>IRR hurdle rate (11)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258568"/>
            <a:ext cx="5440680" cy="713232"/>
          </a:xfrm>
          <a:prstGeom prst="rect">
            <a:avLst/>
          </a:prstGeom>
          <a:solidFill>
            <a:srgbClr val="EF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27648" y="2395728"/>
            <a:ext cx="420624" cy="420624"/>
          </a:xfrm>
          <a:prstGeom prst="rect">
            <a:avLst/>
          </a:prstGeom>
          <a:solidFill>
            <a:srgbClr val="08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76288" y="2331720"/>
            <a:ext cx="461772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22E3E"/>
                </a:solidFill>
                <a:latin typeface="Calibri"/>
              </a:rPr>
              <a:t>CONDITIONAL PASS policy at knockout (12)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099816"/>
            <a:ext cx="5440680" cy="713232"/>
          </a:xfrm>
          <a:prstGeom prst="rect">
            <a:avLst/>
          </a:prstGeom>
          <a:solidFill>
            <a:srgbClr val="EF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27648" y="3236976"/>
            <a:ext cx="420624" cy="420624"/>
          </a:xfrm>
          <a:prstGeom prst="rect">
            <a:avLst/>
          </a:prstGeom>
          <a:solidFill>
            <a:srgbClr val="08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76288" y="3172968"/>
            <a:ext cx="461772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22E3E"/>
                </a:solidFill>
                <a:latin typeface="Calibri"/>
              </a:rPr>
              <a:t>Finder fees, protection window, non-circumvention (13, 14)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3941064"/>
            <a:ext cx="5440680" cy="713232"/>
          </a:xfrm>
          <a:prstGeom prst="rect">
            <a:avLst/>
          </a:prstGeom>
          <a:solidFill>
            <a:srgbClr val="EF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27648" y="4078224"/>
            <a:ext cx="420624" cy="420624"/>
          </a:xfrm>
          <a:prstGeom prst="rect">
            <a:avLst/>
          </a:prstGeom>
          <a:solidFill>
            <a:srgbClr val="08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76288" y="4014216"/>
            <a:ext cx="461772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22E3E"/>
                </a:solidFill>
                <a:latin typeface="Calibri"/>
              </a:rPr>
              <a:t>Review cadence &amp; single named owners (15, 17)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4782312"/>
            <a:ext cx="5440680" cy="713232"/>
          </a:xfrm>
          <a:prstGeom prst="rect">
            <a:avLst/>
          </a:prstGeom>
          <a:solidFill>
            <a:srgbClr val="EF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27648" y="4919472"/>
            <a:ext cx="420624" cy="420624"/>
          </a:xfrm>
          <a:prstGeom prst="rect">
            <a:avLst/>
          </a:prstGeom>
          <a:solidFill>
            <a:srgbClr val="08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76288" y="4855464"/>
            <a:ext cx="461772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22E3E"/>
                </a:solidFill>
                <a:latin typeface="Calibri"/>
              </a:rPr>
              <a:t>Adopt the three templates: decline letter, screening memo, handover pack (18–20)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580644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083060"/>
                </a:solidFill>
                <a:latin typeface="Calibri"/>
              </a:rPr>
              <a:t>Each default is already live in the prototype </a:t>
            </a:r>
            <a:r>
              <a:rPr sz="1300" b="0" i="0">
                <a:solidFill>
                  <a:srgbClr val="5B6B80"/>
                </a:solidFill>
                <a:latin typeface="Calibri"/>
              </a:rPr>
              <a:t>— walk OPP-1008 end-to-end to see them all in one sitting, then confirm or replace.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0"/>
                </a:solidFill>
                <a:latin typeface="Calibri"/>
              </a:rPr>
              <a:t>DEL Commercial Platform — process document review · prototype/README.md holds the full detail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5B6B8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